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6B225B-4FD0-4A6B-A51A-F8F719163E31}" v="2" dt="2026-07-05T23:04:41.7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38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va, Rocio" userId="db57e24f-5bfb-4298-ada9-1bb5c42c8ab2" providerId="ADAL" clId="{CCF37098-2ABB-4D6D-8FBA-F1860AE2155F}"/>
    <pc:docChg chg="undo custSel modSld">
      <pc:chgData name="Alva, Rocio" userId="db57e24f-5bfb-4298-ada9-1bb5c42c8ab2" providerId="ADAL" clId="{CCF37098-2ABB-4D6D-8FBA-F1860AE2155F}" dt="2026-07-05T23:12:49.774" v="152" actId="478"/>
      <pc:docMkLst>
        <pc:docMk/>
      </pc:docMkLst>
      <pc:sldChg chg="addSp modSp mod">
        <pc:chgData name="Alva, Rocio" userId="db57e24f-5bfb-4298-ada9-1bb5c42c8ab2" providerId="ADAL" clId="{CCF37098-2ABB-4D6D-8FBA-F1860AE2155F}" dt="2026-07-05T23:07:03.546" v="119" actId="1076"/>
        <pc:sldMkLst>
          <pc:docMk/>
          <pc:sldMk cId="0" sldId="256"/>
        </pc:sldMkLst>
        <pc:spChg chg="mod">
          <ac:chgData name="Alva, Rocio" userId="db57e24f-5bfb-4298-ada9-1bb5c42c8ab2" providerId="ADAL" clId="{CCF37098-2ABB-4D6D-8FBA-F1860AE2155F}" dt="2026-07-05T23:03:15.554" v="0"/>
          <ac:spMkLst>
            <pc:docMk/>
            <pc:sldMk cId="0" sldId="256"/>
            <ac:spMk id="5" creationId="{00000000-0000-0000-0000-000000000000}"/>
          </ac:spMkLst>
        </pc:spChg>
        <pc:spChg chg="mod">
          <ac:chgData name="Alva, Rocio" userId="db57e24f-5bfb-4298-ada9-1bb5c42c8ab2" providerId="ADAL" clId="{CCF37098-2ABB-4D6D-8FBA-F1860AE2155F}" dt="2026-07-05T23:03:27.641" v="1" actId="1076"/>
          <ac:spMkLst>
            <pc:docMk/>
            <pc:sldMk cId="0" sldId="256"/>
            <ac:spMk id="6" creationId="{00000000-0000-0000-0000-000000000000}"/>
          </ac:spMkLst>
        </pc:spChg>
        <pc:spChg chg="mod">
          <ac:chgData name="Alva, Rocio" userId="db57e24f-5bfb-4298-ada9-1bb5c42c8ab2" providerId="ADAL" clId="{CCF37098-2ABB-4D6D-8FBA-F1860AE2155F}" dt="2026-07-05T23:05:35.461" v="91" actId="14100"/>
          <ac:spMkLst>
            <pc:docMk/>
            <pc:sldMk cId="0" sldId="256"/>
            <ac:spMk id="7" creationId="{00000000-0000-0000-0000-000000000000}"/>
          </ac:spMkLst>
        </pc:spChg>
        <pc:spChg chg="add mod">
          <ac:chgData name="Alva, Rocio" userId="db57e24f-5bfb-4298-ada9-1bb5c42c8ab2" providerId="ADAL" clId="{CCF37098-2ABB-4D6D-8FBA-F1860AE2155F}" dt="2026-07-05T23:06:59.104" v="118" actId="1076"/>
          <ac:spMkLst>
            <pc:docMk/>
            <pc:sldMk cId="0" sldId="256"/>
            <ac:spMk id="10" creationId="{F9D3EE8E-4450-FD12-B83D-D9AEF012E867}"/>
          </ac:spMkLst>
        </pc:spChg>
        <pc:spChg chg="add mod">
          <ac:chgData name="Alva, Rocio" userId="db57e24f-5bfb-4298-ada9-1bb5c42c8ab2" providerId="ADAL" clId="{CCF37098-2ABB-4D6D-8FBA-F1860AE2155F}" dt="2026-07-05T23:07:03.546" v="119" actId="1076"/>
          <ac:spMkLst>
            <pc:docMk/>
            <pc:sldMk cId="0" sldId="256"/>
            <ac:spMk id="12" creationId="{EA6FFF64-BBEB-BF22-FA1F-49D3C540BB18}"/>
          </ac:spMkLst>
        </pc:spChg>
      </pc:sldChg>
      <pc:sldChg chg="delSp modSp mod">
        <pc:chgData name="Alva, Rocio" userId="db57e24f-5bfb-4298-ada9-1bb5c42c8ab2" providerId="ADAL" clId="{CCF37098-2ABB-4D6D-8FBA-F1860AE2155F}" dt="2026-07-05T23:08:19.939" v="122" actId="1076"/>
        <pc:sldMkLst>
          <pc:docMk/>
          <pc:sldMk cId="0" sldId="261"/>
        </pc:sldMkLst>
        <pc:spChg chg="mod">
          <ac:chgData name="Alva, Rocio" userId="db57e24f-5bfb-4298-ada9-1bb5c42c8ab2" providerId="ADAL" clId="{CCF37098-2ABB-4D6D-8FBA-F1860AE2155F}" dt="2026-07-05T23:08:13.654" v="121" actId="1076"/>
          <ac:spMkLst>
            <pc:docMk/>
            <pc:sldMk cId="0" sldId="261"/>
            <ac:spMk id="14" creationId="{00000000-0000-0000-0000-000000000000}"/>
          </ac:spMkLst>
        </pc:spChg>
        <pc:spChg chg="mod">
          <ac:chgData name="Alva, Rocio" userId="db57e24f-5bfb-4298-ada9-1bb5c42c8ab2" providerId="ADAL" clId="{CCF37098-2ABB-4D6D-8FBA-F1860AE2155F}" dt="2026-07-05T23:08:13.654" v="121" actId="1076"/>
          <ac:spMkLst>
            <pc:docMk/>
            <pc:sldMk cId="0" sldId="261"/>
            <ac:spMk id="15" creationId="{00000000-0000-0000-0000-000000000000}"/>
          </ac:spMkLst>
        </pc:spChg>
        <pc:spChg chg="mod">
          <ac:chgData name="Alva, Rocio" userId="db57e24f-5bfb-4298-ada9-1bb5c42c8ab2" providerId="ADAL" clId="{CCF37098-2ABB-4D6D-8FBA-F1860AE2155F}" dt="2026-07-05T23:08:13.654" v="121" actId="1076"/>
          <ac:spMkLst>
            <pc:docMk/>
            <pc:sldMk cId="0" sldId="261"/>
            <ac:spMk id="16" creationId="{00000000-0000-0000-0000-000000000000}"/>
          </ac:spMkLst>
        </pc:spChg>
        <pc:spChg chg="mod">
          <ac:chgData name="Alva, Rocio" userId="db57e24f-5bfb-4298-ada9-1bb5c42c8ab2" providerId="ADAL" clId="{CCF37098-2ABB-4D6D-8FBA-F1860AE2155F}" dt="2026-07-05T23:08:13.654" v="121" actId="1076"/>
          <ac:spMkLst>
            <pc:docMk/>
            <pc:sldMk cId="0" sldId="261"/>
            <ac:spMk id="17" creationId="{00000000-0000-0000-0000-000000000000}"/>
          </ac:spMkLst>
        </pc:spChg>
        <pc:spChg chg="mod">
          <ac:chgData name="Alva, Rocio" userId="db57e24f-5bfb-4298-ada9-1bb5c42c8ab2" providerId="ADAL" clId="{CCF37098-2ABB-4D6D-8FBA-F1860AE2155F}" dt="2026-07-05T23:08:13.654" v="121" actId="1076"/>
          <ac:spMkLst>
            <pc:docMk/>
            <pc:sldMk cId="0" sldId="261"/>
            <ac:spMk id="18" creationId="{00000000-0000-0000-0000-000000000000}"/>
          </ac:spMkLst>
        </pc:spChg>
        <pc:spChg chg="mod">
          <ac:chgData name="Alva, Rocio" userId="db57e24f-5bfb-4298-ada9-1bb5c42c8ab2" providerId="ADAL" clId="{CCF37098-2ABB-4D6D-8FBA-F1860AE2155F}" dt="2026-07-05T23:08:19.939" v="122" actId="1076"/>
          <ac:spMkLst>
            <pc:docMk/>
            <pc:sldMk cId="0" sldId="261"/>
            <ac:spMk id="19" creationId="{00000000-0000-0000-0000-000000000000}"/>
          </ac:spMkLst>
        </pc:spChg>
        <pc:spChg chg="del">
          <ac:chgData name="Alva, Rocio" userId="db57e24f-5bfb-4298-ada9-1bb5c42c8ab2" providerId="ADAL" clId="{CCF37098-2ABB-4D6D-8FBA-F1860AE2155F}" dt="2026-07-05T23:07:57.694" v="120" actId="478"/>
          <ac:spMkLst>
            <pc:docMk/>
            <pc:sldMk cId="0" sldId="261"/>
            <ac:spMk id="20" creationId="{00000000-0000-0000-0000-000000000000}"/>
          </ac:spMkLst>
        </pc:spChg>
      </pc:sldChg>
      <pc:sldChg chg="modSp mod">
        <pc:chgData name="Alva, Rocio" userId="db57e24f-5bfb-4298-ada9-1bb5c42c8ab2" providerId="ADAL" clId="{CCF37098-2ABB-4D6D-8FBA-F1860AE2155F}" dt="2026-07-05T23:08:48.636" v="126" actId="20577"/>
        <pc:sldMkLst>
          <pc:docMk/>
          <pc:sldMk cId="0" sldId="262"/>
        </pc:sldMkLst>
        <pc:spChg chg="mod">
          <ac:chgData name="Alva, Rocio" userId="db57e24f-5bfb-4298-ada9-1bb5c42c8ab2" providerId="ADAL" clId="{CCF37098-2ABB-4D6D-8FBA-F1860AE2155F}" dt="2026-07-05T23:08:48.636" v="126" actId="20577"/>
          <ac:spMkLst>
            <pc:docMk/>
            <pc:sldMk cId="0" sldId="262"/>
            <ac:spMk id="20" creationId="{00000000-0000-0000-0000-000000000000}"/>
          </ac:spMkLst>
        </pc:spChg>
      </pc:sldChg>
      <pc:sldChg chg="modSp mod">
        <pc:chgData name="Alva, Rocio" userId="db57e24f-5bfb-4298-ada9-1bb5c42c8ab2" providerId="ADAL" clId="{CCF37098-2ABB-4D6D-8FBA-F1860AE2155F}" dt="2026-07-05T23:11:24.658" v="147" actId="14100"/>
        <pc:sldMkLst>
          <pc:docMk/>
          <pc:sldMk cId="0" sldId="264"/>
        </pc:sldMkLst>
        <pc:spChg chg="mod">
          <ac:chgData name="Alva, Rocio" userId="db57e24f-5bfb-4298-ada9-1bb5c42c8ab2" providerId="ADAL" clId="{CCF37098-2ABB-4D6D-8FBA-F1860AE2155F}" dt="2026-07-05T23:11:24.447" v="146" actId="14100"/>
          <ac:spMkLst>
            <pc:docMk/>
            <pc:sldMk cId="0" sldId="264"/>
            <ac:spMk id="6" creationId="{00000000-0000-0000-0000-000000000000}"/>
          </ac:spMkLst>
        </pc:spChg>
        <pc:spChg chg="mod">
          <ac:chgData name="Alva, Rocio" userId="db57e24f-5bfb-4298-ada9-1bb5c42c8ab2" providerId="ADAL" clId="{CCF37098-2ABB-4D6D-8FBA-F1860AE2155F}" dt="2026-07-05T23:11:24.074" v="145" actId="14100"/>
          <ac:spMkLst>
            <pc:docMk/>
            <pc:sldMk cId="0" sldId="264"/>
            <ac:spMk id="11" creationId="{00000000-0000-0000-0000-000000000000}"/>
          </ac:spMkLst>
        </pc:spChg>
        <pc:spChg chg="mod">
          <ac:chgData name="Alva, Rocio" userId="db57e24f-5bfb-4298-ada9-1bb5c42c8ab2" providerId="ADAL" clId="{CCF37098-2ABB-4D6D-8FBA-F1860AE2155F}" dt="2026-07-05T23:11:23.890" v="144" actId="14100"/>
          <ac:spMkLst>
            <pc:docMk/>
            <pc:sldMk cId="0" sldId="264"/>
            <ac:spMk id="14" creationId="{00000000-0000-0000-0000-000000000000}"/>
          </ac:spMkLst>
        </pc:spChg>
        <pc:spChg chg="mod">
          <ac:chgData name="Alva, Rocio" userId="db57e24f-5bfb-4298-ada9-1bb5c42c8ab2" providerId="ADAL" clId="{CCF37098-2ABB-4D6D-8FBA-F1860AE2155F}" dt="2026-07-05T23:10:46.501" v="131" actId="1076"/>
          <ac:spMkLst>
            <pc:docMk/>
            <pc:sldMk cId="0" sldId="264"/>
            <ac:spMk id="23" creationId="{00000000-0000-0000-0000-000000000000}"/>
          </ac:spMkLst>
        </pc:spChg>
        <pc:spChg chg="mod">
          <ac:chgData name="Alva, Rocio" userId="db57e24f-5bfb-4298-ada9-1bb5c42c8ab2" providerId="ADAL" clId="{CCF37098-2ABB-4D6D-8FBA-F1860AE2155F}" dt="2026-07-05T23:10:46.501" v="131" actId="1076"/>
          <ac:spMkLst>
            <pc:docMk/>
            <pc:sldMk cId="0" sldId="264"/>
            <ac:spMk id="24" creationId="{00000000-0000-0000-0000-000000000000}"/>
          </ac:spMkLst>
        </pc:spChg>
        <pc:spChg chg="mod">
          <ac:chgData name="Alva, Rocio" userId="db57e24f-5bfb-4298-ada9-1bb5c42c8ab2" providerId="ADAL" clId="{CCF37098-2ABB-4D6D-8FBA-F1860AE2155F}" dt="2026-07-05T23:10:31.204" v="130" actId="1076"/>
          <ac:spMkLst>
            <pc:docMk/>
            <pc:sldMk cId="0" sldId="264"/>
            <ac:spMk id="25" creationId="{00000000-0000-0000-0000-000000000000}"/>
          </ac:spMkLst>
        </pc:spChg>
        <pc:spChg chg="mod">
          <ac:chgData name="Alva, Rocio" userId="db57e24f-5bfb-4298-ada9-1bb5c42c8ab2" providerId="ADAL" clId="{CCF37098-2ABB-4D6D-8FBA-F1860AE2155F}" dt="2026-07-05T23:10:21.524" v="127" actId="1076"/>
          <ac:spMkLst>
            <pc:docMk/>
            <pc:sldMk cId="0" sldId="264"/>
            <ac:spMk id="26" creationId="{00000000-0000-0000-0000-000000000000}"/>
          </ac:spMkLst>
        </pc:spChg>
        <pc:picChg chg="mod">
          <ac:chgData name="Alva, Rocio" userId="db57e24f-5bfb-4298-ada9-1bb5c42c8ab2" providerId="ADAL" clId="{CCF37098-2ABB-4D6D-8FBA-F1860AE2155F}" dt="2026-07-05T23:11:24.658" v="147" actId="14100"/>
          <ac:picMkLst>
            <pc:docMk/>
            <pc:sldMk cId="0" sldId="264"/>
            <ac:picMk id="7" creationId="{00000000-0000-0000-0000-000000000000}"/>
          </ac:picMkLst>
        </pc:picChg>
      </pc:sldChg>
      <pc:sldChg chg="delSp modSp mod">
        <pc:chgData name="Alva, Rocio" userId="db57e24f-5bfb-4298-ada9-1bb5c42c8ab2" providerId="ADAL" clId="{CCF37098-2ABB-4D6D-8FBA-F1860AE2155F}" dt="2026-07-05T23:12:49.774" v="152" actId="478"/>
        <pc:sldMkLst>
          <pc:docMk/>
          <pc:sldMk cId="0" sldId="266"/>
        </pc:sldMkLst>
        <pc:spChg chg="mod">
          <ac:chgData name="Alva, Rocio" userId="db57e24f-5bfb-4298-ada9-1bb5c42c8ab2" providerId="ADAL" clId="{CCF37098-2ABB-4D6D-8FBA-F1860AE2155F}" dt="2026-07-05T23:12:44.307" v="151" actId="20577"/>
          <ac:spMkLst>
            <pc:docMk/>
            <pc:sldMk cId="0" sldId="266"/>
            <ac:spMk id="4" creationId="{00000000-0000-0000-0000-000000000000}"/>
          </ac:spMkLst>
        </pc:spChg>
        <pc:spChg chg="del">
          <ac:chgData name="Alva, Rocio" userId="db57e24f-5bfb-4298-ada9-1bb5c42c8ab2" providerId="ADAL" clId="{CCF37098-2ABB-4D6D-8FBA-F1860AE2155F}" dt="2026-07-05T23:12:49.774" v="152" actId="478"/>
          <ac:spMkLst>
            <pc:docMk/>
            <pc:sldMk cId="0" sldId="26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0008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Arrancamos por la home. Es una landing puramente de frontend: tipografía de impacto, fondo oscuro y una propuesta de valor de una línea. Explico que StreamAI es un sistema de recomendación de películas y series basado en un dataset real de catálogos de streaming, estilo Kaggle, combinando Netflix, Disney+, Prime Video, HBO Max y Apple TV+. Hay dos botones: 'Buscar contenido' lleva directo al motor de recomendación con filtros y similitud; 'Ver análisis' lleva al dashboard analítico. En esta pantalla todavía no hay datos ni IA corriendo: es la puerta de entrada que ordena el recorrido del usuario.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mostrar el motor, transparento el dataset. Son 800 títulos, un subconjunto representativo de una base combinada de 5.000 registros, con un esquema equivalente al dataset público de Kaggle 'Netflix Movies and TV Shows', pero extendido a 5 plataformas: Netflix con 275 títulos, Disney+ con 168, Prime Video con 122, HBO Max con 107 y Apple TV+ con 128. Los KPIs de arriba (800 títulos, 6.9 de puntaje promedio, 5 plataformas, 12 géneros) salen de un procesamiento en Python/pandas documentado en la carpeta /data y en notebooks de Google Colab, que dejo linkeados para quien quiera auditar el análisis completo. Esto es todavía preparación de datos: no hay IA generativa involucrada, es estadística descriptiva sobre el dataset.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dashboard es la sección analítica del proyecto. Arriba se ven cuatro tarjetas: 800 títulos totales (288 series y 512 películas), 6.90 de puntaje promedio sobre 10, Sci-Fi &amp; Fantasy como género más frecuente con 76 títulos, y Apple TV+ como mejor plataforma con un promedio de 6.98. Abajo hay dos visualizaciones: un donut de 'Títulos por plataforma' y un gráfico de barras de 'Distribución por género'. Técnicamente, esto es frontend consumiendo agregaciones ya calculadas sobre el dataset: no hay modelos de IA generativa acá, es análisis descriptivo puro, pensado para que cualquiera entienda el catálogo de un vistazo antes de buscar contenido.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Acá el usuario interactúa con el corazón del proyecto. Hay dos formas de encontrar contenido: buscar títulos similares escribiendo un nombre como 'Stranger Things' o 'Dark', que dispara un motor de similitud basado en vectorización de texto sobre sinopsis y metadatos (TF-IDF / embeddings), devolviendo los títulos más parecidos; y filtrar de forma tradicional por género, plataforma, tipo de contenido y puntaje mínimo. El resultado, '60 títulos encontrados', se renderiza en tarjetas con puntaje, plataforma, tipo y año. Es importante remarcar que esta parte no usa IA generativa: es procesamiento de lenguaje natural clásico (vectorización y distancia de similitud) corriendo sobre el dataset ya cargado en el frontend o en una API propia.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primera sección con IA generativa real. El chat 'StreamAI Assistant' no llama a OpenAI directo desde el navegador: el mensaje del usuario (o el chip de género que toque, como Comedias, Terror, Acción o Familia) se envía a un webhook de n8n. Ese workflow arma el prompt con el género pedido y las reglas del negocio, lo manda a la API de OpenAI usando GPT-4o, recibe un top 5 de títulos con la plataforma sugerida, y devuelve la respuesta ya formateada al chat. La ventaja de este patrón, frontend más n8n como orquestador, es que puedo cambiar de modelo o agregar lógica (por ejemplo cruzar con el dataset real) sin tocar el código del sitio.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Sorprendeme es una automatización pensada para el usuario indeciso. Con un solo clic, el frontend elige un género al azar de una lista fija (comedia, terror, acción, drama, ciencia ficción, familia) y dispara un webhook hacia el mismo tipo de workflow de n8n que vimos en el asistente. n8n arma el prompt con ese género y se lo pide a OpenAI, que devuelve un top 5 con la plataforma incluida. La diferencia clave frente al asistente es que acá no hay una conversación libre: es una automatización de un solo paso, útil para mostrar que la misma arquitectura de IA se puede reutilizar para distintas interacciones sin duplicar lógica de backend.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el comparador, que combina todo lo anterior. El usuario elige Plataforma A y Plataforma B, por ejemplo Netflix y HBO Max. Primero el frontend calcula métricas reales sobre el dataset: Netflix tiene 275 títulos, 6.92 de puntaje promedio y Sci-Fi &amp; Fantasy como género principal; HBO Max tiene 107 títulos, 6.91 de puntaje promedio y Action &amp; Adventure como género principal. Esos números son cálculo directo, no IA. Recién cuando el usuario toca 'Comparar con IA' se dispara un segundo workflow de n8n que le pasa esas métricas ya calculadas a OpenAI, y el modelo redacta una comparación en lenguaje natural. La idea de fondo es que la IA generativa nunca inventa números: solo interpreta y redacta sobre datos reales que ya calculamos nosotros.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agradeciendo y abro preguntas. Si preguntan por límites del proyecto, puedo mencionar que el dataset es una muestra (800 de 5.000 registros), que la similitud es TF-IDF/embeddings (no un modelo de recomendación entrenado), y que la IA generativa (GPT-4o vía n8n) se usa solo para redactar, nunca para calcular métricas.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12"/>
        </a:solidFill>
        <a:effectLst/>
      </p:bgPr>
    </p:bg>
    <p:spTree>
      <p:nvGrpSpPr>
        <p:cNvPr id="1" name=""/>
        <p:cNvGrpSpPr/>
        <p:nvPr/>
      </p:nvGrpSpPr>
      <p:grpSpPr>
        <a:xfrm>
          <a:off x="0" y="0"/>
          <a:ext cx="0" cy="0"/>
          <a:chOff x="0" y="0"/>
          <a:chExt cx="0" cy="0"/>
        </a:xfrm>
      </p:grpSpPr>
      <p:sp>
        <p:nvSpPr>
          <p:cNvPr id="2" name="Shape 0"/>
          <p:cNvSpPr/>
          <p:nvPr/>
        </p:nvSpPr>
        <p:spPr>
          <a:xfrm>
            <a:off x="-2286000" y="-2560320"/>
            <a:ext cx="6400800" cy="6400800"/>
          </a:xfrm>
          <a:prstGeom prst="ellipse">
            <a:avLst/>
          </a:prstGeom>
          <a:solidFill>
            <a:srgbClr val="8B5CF6">
              <a:alpha val="12000"/>
            </a:srgbClr>
          </a:solidFill>
          <a:ln/>
        </p:spPr>
        <p:txBody>
          <a:bodyPr/>
          <a:lstStyle/>
          <a:p>
            <a:endParaRPr lang="en-US"/>
          </a:p>
        </p:txBody>
      </p:sp>
      <p:sp>
        <p:nvSpPr>
          <p:cNvPr id="3" name="Shape 1"/>
          <p:cNvSpPr/>
          <p:nvPr/>
        </p:nvSpPr>
        <p:spPr>
          <a:xfrm>
            <a:off x="8686800" y="3200400"/>
            <a:ext cx="6400800" cy="6400800"/>
          </a:xfrm>
          <a:prstGeom prst="ellipse">
            <a:avLst/>
          </a:prstGeom>
          <a:solidFill>
            <a:srgbClr val="E63946">
              <a:alpha val="10000"/>
            </a:srgbClr>
          </a:solidFill>
          <a:ln/>
        </p:spPr>
        <p:txBody>
          <a:bodyPr/>
          <a:lstStyle/>
          <a:p>
            <a:endParaRPr lang="en-US"/>
          </a:p>
        </p:txBody>
      </p:sp>
      <p:sp>
        <p:nvSpPr>
          <p:cNvPr id="4" name="Text 2"/>
          <p:cNvSpPr/>
          <p:nvPr/>
        </p:nvSpPr>
        <p:spPr>
          <a:xfrm>
            <a:off x="822960" y="1965960"/>
            <a:ext cx="9144000" cy="914400"/>
          </a:xfrm>
          <a:prstGeom prst="rect">
            <a:avLst/>
          </a:prstGeom>
          <a:noFill/>
          <a:ln/>
        </p:spPr>
        <p:txBody>
          <a:bodyPr wrap="square" lIns="0" tIns="0" rIns="0" bIns="0" rtlCol="0" anchor="ctr"/>
          <a:lstStyle/>
          <a:p>
            <a:pPr marL="0" indent="0">
              <a:buNone/>
            </a:pPr>
            <a:r>
              <a:rPr lang="en-US" sz="5400" b="1" kern="0" spc="100" dirty="0">
                <a:solidFill>
                  <a:srgbClr val="FFFFFF"/>
                </a:solidFill>
                <a:latin typeface="Arial" pitchFamily="34" charset="0"/>
                <a:ea typeface="Arial" pitchFamily="34" charset="-122"/>
                <a:cs typeface="Arial" pitchFamily="34" charset="-120"/>
              </a:rPr>
              <a:t>STREAM</a:t>
            </a:r>
            <a:r>
              <a:rPr lang="en-US" sz="5400" b="1" kern="0" spc="100" dirty="0">
                <a:solidFill>
                  <a:srgbClr val="E63946"/>
                </a:solidFill>
                <a:latin typeface="Arial" pitchFamily="34" charset="0"/>
                <a:ea typeface="Arial" pitchFamily="34" charset="-122"/>
                <a:cs typeface="Arial" pitchFamily="34" charset="-120"/>
              </a:rPr>
              <a:t>AI</a:t>
            </a:r>
            <a:endParaRPr lang="en-US" sz="5400" dirty="0"/>
          </a:p>
        </p:txBody>
      </p:sp>
      <p:sp>
        <p:nvSpPr>
          <p:cNvPr id="5" name="Text 3"/>
          <p:cNvSpPr/>
          <p:nvPr/>
        </p:nvSpPr>
        <p:spPr>
          <a:xfrm>
            <a:off x="868680" y="2880360"/>
            <a:ext cx="9601200" cy="502920"/>
          </a:xfrm>
          <a:prstGeom prst="rect">
            <a:avLst/>
          </a:prstGeom>
          <a:noFill/>
          <a:ln/>
        </p:spPr>
        <p:txBody>
          <a:bodyPr wrap="square" lIns="0" tIns="0" rIns="0" bIns="0" rtlCol="0" anchor="ctr"/>
          <a:lstStyle/>
          <a:p>
            <a:r>
              <a:rPr lang="en-US" sz="2000" dirty="0">
                <a:solidFill>
                  <a:srgbClr val="9CA3AF"/>
                </a:solidFill>
                <a:latin typeface="Arial" pitchFamily="34" charset="0"/>
                <a:ea typeface="Arial" pitchFamily="34" charset="-122"/>
                <a:cs typeface="Arial" pitchFamily="34" charset="-120"/>
              </a:rPr>
              <a:t>Sistema de </a:t>
            </a:r>
            <a:r>
              <a:rPr lang="en-US" sz="2000" dirty="0" err="1">
                <a:solidFill>
                  <a:srgbClr val="9CA3AF"/>
                </a:solidFill>
                <a:latin typeface="Arial" pitchFamily="34" charset="0"/>
                <a:ea typeface="Arial" pitchFamily="34" charset="-122"/>
                <a:cs typeface="Arial" pitchFamily="34" charset="-120"/>
              </a:rPr>
              <a:t>recomendación</a:t>
            </a:r>
            <a:r>
              <a:rPr lang="en-US" sz="2000" dirty="0">
                <a:solidFill>
                  <a:srgbClr val="9CA3AF"/>
                </a:solidFill>
                <a:latin typeface="Arial" pitchFamily="34" charset="0"/>
                <a:ea typeface="Arial" pitchFamily="34" charset="-122"/>
                <a:cs typeface="Arial" pitchFamily="34" charset="-120"/>
              </a:rPr>
              <a:t> de </a:t>
            </a:r>
            <a:r>
              <a:rPr lang="en-US" sz="2000" dirty="0" err="1">
                <a:solidFill>
                  <a:srgbClr val="9CA3AF"/>
                </a:solidFill>
                <a:latin typeface="Arial" pitchFamily="34" charset="0"/>
                <a:ea typeface="Arial" pitchFamily="34" charset="-122"/>
                <a:cs typeface="Arial" pitchFamily="34" charset="-120"/>
              </a:rPr>
              <a:t>contenido</a:t>
            </a:r>
            <a:r>
              <a:rPr lang="en-US" sz="2000" dirty="0">
                <a:solidFill>
                  <a:srgbClr val="9CA3AF"/>
                </a:solidFill>
                <a:latin typeface="Arial" pitchFamily="34" charset="0"/>
                <a:ea typeface="Arial" pitchFamily="34" charset="-122"/>
                <a:cs typeface="Arial" pitchFamily="34" charset="-120"/>
              </a:rPr>
              <a:t> streaming con dashboard </a:t>
            </a:r>
            <a:r>
              <a:rPr lang="en-US" sz="2000" dirty="0" err="1">
                <a:solidFill>
                  <a:srgbClr val="9CA3AF"/>
                </a:solidFill>
                <a:latin typeface="Arial" pitchFamily="34" charset="0"/>
                <a:ea typeface="Arial" pitchFamily="34" charset="-122"/>
                <a:cs typeface="Arial" pitchFamily="34" charset="-120"/>
              </a:rPr>
              <a:t>analítico</a:t>
            </a:r>
            <a:r>
              <a:rPr lang="en-US" sz="2000" dirty="0">
                <a:solidFill>
                  <a:srgbClr val="9CA3AF"/>
                </a:solidFill>
                <a:latin typeface="Arial" pitchFamily="34" charset="0"/>
                <a:ea typeface="Arial" pitchFamily="34" charset="-122"/>
                <a:cs typeface="Arial" pitchFamily="34" charset="-120"/>
              </a:rPr>
              <a:t>, motor de </a:t>
            </a:r>
            <a:r>
              <a:rPr lang="en-US" sz="2000" dirty="0" err="1">
                <a:solidFill>
                  <a:srgbClr val="9CA3AF"/>
                </a:solidFill>
                <a:latin typeface="Arial" pitchFamily="34" charset="0"/>
                <a:ea typeface="Arial" pitchFamily="34" charset="-122"/>
                <a:cs typeface="Arial" pitchFamily="34" charset="-120"/>
              </a:rPr>
              <a:t>similitud</a:t>
            </a:r>
            <a:r>
              <a:rPr lang="en-US" sz="2000" dirty="0">
                <a:solidFill>
                  <a:srgbClr val="9CA3AF"/>
                </a:solidFill>
                <a:latin typeface="Arial" pitchFamily="34" charset="0"/>
                <a:ea typeface="Arial" pitchFamily="34" charset="-122"/>
                <a:cs typeface="Arial" pitchFamily="34" charset="-120"/>
              </a:rPr>
              <a:t> y </a:t>
            </a:r>
            <a:r>
              <a:rPr lang="en-US" sz="2000" dirty="0" err="1">
                <a:solidFill>
                  <a:srgbClr val="9CA3AF"/>
                </a:solidFill>
                <a:latin typeface="Arial" pitchFamily="34" charset="0"/>
                <a:ea typeface="Arial" pitchFamily="34" charset="-122"/>
                <a:cs typeface="Arial" pitchFamily="34" charset="-120"/>
              </a:rPr>
              <a:t>automatización</a:t>
            </a:r>
            <a:r>
              <a:rPr lang="en-US" sz="2000" dirty="0">
                <a:solidFill>
                  <a:srgbClr val="9CA3AF"/>
                </a:solidFill>
                <a:latin typeface="Arial" pitchFamily="34" charset="0"/>
                <a:ea typeface="Arial" pitchFamily="34" charset="-122"/>
                <a:cs typeface="Arial" pitchFamily="34" charset="-120"/>
              </a:rPr>
              <a:t> con IA.</a:t>
            </a:r>
            <a:endParaRPr lang="en-US" sz="2000" dirty="0"/>
          </a:p>
        </p:txBody>
      </p:sp>
      <p:sp>
        <p:nvSpPr>
          <p:cNvPr id="6" name="Shape 4"/>
          <p:cNvSpPr/>
          <p:nvPr/>
        </p:nvSpPr>
        <p:spPr>
          <a:xfrm>
            <a:off x="896112" y="3564890"/>
            <a:ext cx="2011680" cy="0"/>
          </a:xfrm>
          <a:prstGeom prst="line">
            <a:avLst/>
          </a:prstGeom>
          <a:noFill/>
          <a:ln w="31750">
            <a:solidFill>
              <a:srgbClr val="E63946"/>
            </a:solidFill>
            <a:prstDash val="solid"/>
          </a:ln>
        </p:spPr>
        <p:txBody>
          <a:bodyPr/>
          <a:lstStyle/>
          <a:p>
            <a:endParaRPr lang="en-US"/>
          </a:p>
        </p:txBody>
      </p:sp>
      <p:sp>
        <p:nvSpPr>
          <p:cNvPr id="7" name="Text 5"/>
          <p:cNvSpPr/>
          <p:nvPr/>
        </p:nvSpPr>
        <p:spPr>
          <a:xfrm>
            <a:off x="868679" y="3703320"/>
            <a:ext cx="2011679" cy="822960"/>
          </a:xfrm>
          <a:prstGeom prst="rect">
            <a:avLst/>
          </a:prstGeom>
          <a:noFill/>
          <a:ln/>
        </p:spPr>
        <p:txBody>
          <a:bodyPr wrap="square" lIns="0" tIns="0" rIns="0" bIns="0" rtlCol="0" anchor="ctr"/>
          <a:lstStyle/>
          <a:p>
            <a:pPr>
              <a:lnSpc>
                <a:spcPct val="150000"/>
              </a:lnSpc>
            </a:pPr>
            <a:r>
              <a:rPr lang="en-US" sz="1600" b="1" dirty="0">
                <a:solidFill>
                  <a:schemeClr val="bg1"/>
                </a:solidFill>
              </a:rPr>
              <a:t>Alva Dourado, Rocio</a:t>
            </a:r>
          </a:p>
          <a:p>
            <a:pPr>
              <a:lnSpc>
                <a:spcPct val="150000"/>
              </a:lnSpc>
            </a:pPr>
            <a:r>
              <a:rPr lang="en-US" sz="1600" dirty="0" err="1">
                <a:solidFill>
                  <a:schemeClr val="bg1"/>
                </a:solidFill>
              </a:rPr>
              <a:t>Padr</a:t>
            </a:r>
            <a:r>
              <a:rPr lang="es-AR" sz="1600" dirty="0" err="1">
                <a:solidFill>
                  <a:schemeClr val="bg1"/>
                </a:solidFill>
              </a:rPr>
              <a:t>ón</a:t>
            </a:r>
            <a:r>
              <a:rPr lang="es-AR" sz="1600" dirty="0">
                <a:solidFill>
                  <a:schemeClr val="bg1"/>
                </a:solidFill>
              </a:rPr>
              <a:t>: 107556</a:t>
            </a:r>
            <a:endParaRPr lang="en-US" sz="1600" dirty="0">
              <a:solidFill>
                <a:schemeClr val="bg1"/>
              </a:solidFill>
            </a:endParaRPr>
          </a:p>
        </p:txBody>
      </p:sp>
      <p:sp>
        <p:nvSpPr>
          <p:cNvPr id="8" name="Text 6"/>
          <p:cNvSpPr/>
          <p:nvPr/>
        </p:nvSpPr>
        <p:spPr>
          <a:xfrm>
            <a:off x="868680" y="6080760"/>
            <a:ext cx="7315200" cy="365760"/>
          </a:xfrm>
          <a:prstGeom prst="rect">
            <a:avLst/>
          </a:prstGeom>
          <a:noFill/>
          <a:ln/>
        </p:spPr>
        <p:txBody>
          <a:bodyPr wrap="square" lIns="0" tIns="0" rIns="0" bIns="0" rtlCol="0" anchor="ctr"/>
          <a:lstStyle/>
          <a:p>
            <a:pPr marL="0" indent="0">
              <a:buNone/>
            </a:pPr>
            <a:r>
              <a:rPr lang="en-US" sz="1200" dirty="0">
                <a:solidFill>
                  <a:srgbClr val="6B7280"/>
                </a:solidFill>
                <a:latin typeface="Arial" pitchFamily="34" charset="0"/>
                <a:ea typeface="Arial" pitchFamily="34" charset="-122"/>
                <a:cs typeface="Arial" pitchFamily="34" charset="-120"/>
              </a:rPr>
              <a:t>Proyecto universitario · Análisis de datos + IA aplicada</a:t>
            </a:r>
            <a:endParaRPr lang="en-US" sz="1200" dirty="0"/>
          </a:p>
        </p:txBody>
      </p:sp>
      <p:sp>
        <p:nvSpPr>
          <p:cNvPr id="10" name="CuadroTexto 9">
            <a:extLst>
              <a:ext uri="{FF2B5EF4-FFF2-40B4-BE49-F238E27FC236}">
                <a16:creationId xmlns:a16="http://schemas.microsoft.com/office/drawing/2014/main" id="{F9D3EE8E-4450-FD12-B83D-D9AEF012E867}"/>
              </a:ext>
            </a:extLst>
          </p:cNvPr>
          <p:cNvSpPr txBox="1"/>
          <p:nvPr/>
        </p:nvSpPr>
        <p:spPr>
          <a:xfrm>
            <a:off x="3191508" y="3718409"/>
            <a:ext cx="1709420" cy="792781"/>
          </a:xfrm>
          <a:prstGeom prst="rect">
            <a:avLst/>
          </a:prstGeom>
          <a:noFill/>
        </p:spPr>
        <p:txBody>
          <a:bodyPr wrap="square">
            <a:spAutoFit/>
          </a:bodyPr>
          <a:lstStyle/>
          <a:p>
            <a:pPr marL="0" indent="0">
              <a:lnSpc>
                <a:spcPct val="150000"/>
              </a:lnSpc>
              <a:buNone/>
            </a:pPr>
            <a:r>
              <a:rPr lang="en-US" sz="1600" b="1" dirty="0">
                <a:solidFill>
                  <a:schemeClr val="bg1"/>
                </a:solidFill>
              </a:rPr>
              <a:t>Maffei, Luis</a:t>
            </a:r>
          </a:p>
          <a:p>
            <a:pPr marL="0" indent="0">
              <a:lnSpc>
                <a:spcPct val="150000"/>
              </a:lnSpc>
              <a:buNone/>
            </a:pPr>
            <a:r>
              <a:rPr lang="en-US" sz="1600" dirty="0" err="1">
                <a:solidFill>
                  <a:schemeClr val="bg1"/>
                </a:solidFill>
              </a:rPr>
              <a:t>Padr</a:t>
            </a:r>
            <a:r>
              <a:rPr lang="es-AR" sz="1600" dirty="0" err="1">
                <a:solidFill>
                  <a:schemeClr val="bg1"/>
                </a:solidFill>
              </a:rPr>
              <a:t>ón</a:t>
            </a:r>
            <a:r>
              <a:rPr lang="es-AR" sz="1600" dirty="0">
                <a:solidFill>
                  <a:schemeClr val="bg1"/>
                </a:solidFill>
              </a:rPr>
              <a:t>: 106294</a:t>
            </a:r>
            <a:endParaRPr lang="en-US" sz="1600" dirty="0">
              <a:solidFill>
                <a:schemeClr val="bg1"/>
              </a:solidFill>
            </a:endParaRPr>
          </a:p>
        </p:txBody>
      </p:sp>
      <p:sp>
        <p:nvSpPr>
          <p:cNvPr id="12" name="Text 5">
            <a:extLst>
              <a:ext uri="{FF2B5EF4-FFF2-40B4-BE49-F238E27FC236}">
                <a16:creationId xmlns:a16="http://schemas.microsoft.com/office/drawing/2014/main" id="{EA6FFF64-BBEB-BF22-FA1F-49D3C540BB18}"/>
              </a:ext>
            </a:extLst>
          </p:cNvPr>
          <p:cNvSpPr/>
          <p:nvPr/>
        </p:nvSpPr>
        <p:spPr>
          <a:xfrm>
            <a:off x="5280660" y="3688230"/>
            <a:ext cx="2011679" cy="822960"/>
          </a:xfrm>
          <a:prstGeom prst="rect">
            <a:avLst/>
          </a:prstGeom>
          <a:noFill/>
          <a:ln/>
        </p:spPr>
        <p:txBody>
          <a:bodyPr wrap="square" lIns="0" tIns="0" rIns="0" bIns="0" rtlCol="0" anchor="ctr"/>
          <a:lstStyle/>
          <a:p>
            <a:pPr>
              <a:lnSpc>
                <a:spcPct val="150000"/>
              </a:lnSpc>
            </a:pPr>
            <a:r>
              <a:rPr lang="en-US" sz="1600" b="1" dirty="0">
                <a:solidFill>
                  <a:schemeClr val="bg1"/>
                </a:solidFill>
              </a:rPr>
              <a:t>Grunbaum, Serena</a:t>
            </a:r>
          </a:p>
          <a:p>
            <a:pPr>
              <a:lnSpc>
                <a:spcPct val="150000"/>
              </a:lnSpc>
            </a:pPr>
            <a:r>
              <a:rPr lang="en-US" sz="1600" dirty="0" err="1">
                <a:solidFill>
                  <a:schemeClr val="bg1"/>
                </a:solidFill>
              </a:rPr>
              <a:t>Padr</a:t>
            </a:r>
            <a:r>
              <a:rPr lang="es-AR" sz="1600" dirty="0" err="1">
                <a:solidFill>
                  <a:schemeClr val="bg1"/>
                </a:solidFill>
              </a:rPr>
              <a:t>ón</a:t>
            </a:r>
            <a:r>
              <a:rPr lang="es-AR" sz="1600" dirty="0">
                <a:solidFill>
                  <a:schemeClr val="bg1"/>
                </a:solidFill>
              </a:rPr>
              <a:t>: 107688</a:t>
            </a:r>
            <a:endParaRPr lang="en-US" sz="16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12"/>
        </a:solidFill>
        <a:effectLst/>
      </p:bgPr>
    </p:bg>
    <p:spTree>
      <p:nvGrpSpPr>
        <p:cNvPr id="1" name=""/>
        <p:cNvGrpSpPr/>
        <p:nvPr/>
      </p:nvGrpSpPr>
      <p:grpSpPr>
        <a:xfrm>
          <a:off x="0" y="0"/>
          <a:ext cx="0" cy="0"/>
          <a:chOff x="0" y="0"/>
          <a:chExt cx="0" cy="0"/>
        </a:xfrm>
      </p:grpSpPr>
      <p:sp>
        <p:nvSpPr>
          <p:cNvPr id="2" name="Text 0"/>
          <p:cNvSpPr/>
          <p:nvPr/>
        </p:nvSpPr>
        <p:spPr>
          <a:xfrm>
            <a:off x="457200" y="256032"/>
            <a:ext cx="2743200" cy="36576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STREAM</a:t>
            </a:r>
            <a:r>
              <a:rPr lang="en-US" sz="1400" b="1" kern="0" spc="100" dirty="0">
                <a:solidFill>
                  <a:srgbClr val="E63946"/>
                </a:solidFill>
                <a:latin typeface="Arial" pitchFamily="34" charset="0"/>
                <a:ea typeface="Arial" pitchFamily="34" charset="-122"/>
                <a:cs typeface="Arial" pitchFamily="34" charset="-120"/>
              </a:rPr>
              <a:t>AI</a:t>
            </a:r>
            <a:endParaRPr lang="en-US" sz="1400" dirty="0"/>
          </a:p>
        </p:txBody>
      </p:sp>
      <p:sp>
        <p:nvSpPr>
          <p:cNvPr id="3" name="Text 1"/>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4" name="Text 2"/>
          <p:cNvSpPr/>
          <p:nvPr/>
        </p:nvSpPr>
        <p:spPr>
          <a:xfrm>
            <a:off x="457200" y="685800"/>
            <a:ext cx="9144000" cy="274320"/>
          </a:xfrm>
          <a:prstGeom prst="rect">
            <a:avLst/>
          </a:prstGeom>
          <a:noFill/>
          <a:ln/>
        </p:spPr>
        <p:txBody>
          <a:bodyPr wrap="square" lIns="0" tIns="0" rIns="0" bIns="0" rtlCol="0" anchor="ctr"/>
          <a:lstStyle/>
          <a:p>
            <a:pPr marL="0" indent="0">
              <a:buNone/>
            </a:pPr>
            <a:r>
              <a:rPr lang="en-US" sz="1200" b="1" kern="0" spc="200" dirty="0">
                <a:solidFill>
                  <a:srgbClr val="8B5CF6"/>
                </a:solidFill>
                <a:latin typeface="Arial" pitchFamily="34" charset="0"/>
                <a:ea typeface="Arial" pitchFamily="34" charset="-122"/>
                <a:cs typeface="Arial" pitchFamily="34" charset="-120"/>
              </a:rPr>
              <a:t>HOJA DE RUTA</a:t>
            </a:r>
            <a:endParaRPr lang="en-US" sz="1200" dirty="0"/>
          </a:p>
        </p:txBody>
      </p:sp>
      <p:sp>
        <p:nvSpPr>
          <p:cNvPr id="5" name="Text 3"/>
          <p:cNvSpPr/>
          <p:nvPr/>
        </p:nvSpPr>
        <p:spPr>
          <a:xfrm>
            <a:off x="457200" y="941832"/>
            <a:ext cx="100584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El recorrido del usuario</a:t>
            </a:r>
            <a:endParaRPr lang="en-US" sz="2800" dirty="0"/>
          </a:p>
        </p:txBody>
      </p:sp>
      <p:sp>
        <p:nvSpPr>
          <p:cNvPr id="6" name="Shape 4"/>
          <p:cNvSpPr/>
          <p:nvPr/>
        </p:nvSpPr>
        <p:spPr>
          <a:xfrm>
            <a:off x="548640" y="1965960"/>
            <a:ext cx="2542032" cy="1508760"/>
          </a:xfrm>
          <a:prstGeom prst="roundRect">
            <a:avLst>
              <a:gd name="adj" fmla="val 4848"/>
            </a:avLst>
          </a:prstGeom>
          <a:solidFill>
            <a:srgbClr val="15151F"/>
          </a:solidFill>
          <a:ln/>
          <a:effectLst>
            <a:outerShdw blurRad="127000" dist="38100" dir="5400000" algn="bl" rotWithShape="0">
              <a:srgbClr val="000000">
                <a:alpha val="35000"/>
              </a:srgbClr>
            </a:outerShdw>
          </a:effectLst>
        </p:spPr>
        <p:txBody>
          <a:bodyPr/>
          <a:lstStyle/>
          <a:p>
            <a:endParaRPr lang="en-US"/>
          </a:p>
        </p:txBody>
      </p:sp>
      <p:sp>
        <p:nvSpPr>
          <p:cNvPr id="7" name="Text 5"/>
          <p:cNvSpPr/>
          <p:nvPr/>
        </p:nvSpPr>
        <p:spPr>
          <a:xfrm>
            <a:off x="731520" y="2112264"/>
            <a:ext cx="1097280" cy="457200"/>
          </a:xfrm>
          <a:prstGeom prst="rect">
            <a:avLst/>
          </a:prstGeom>
          <a:noFill/>
          <a:ln/>
        </p:spPr>
        <p:txBody>
          <a:bodyPr wrap="square" lIns="0" tIns="0" rIns="0" bIns="0" rtlCol="0" anchor="ctr"/>
          <a:lstStyle/>
          <a:p>
            <a:pPr marL="0" indent="0">
              <a:buNone/>
            </a:pPr>
            <a:r>
              <a:rPr lang="en-US" sz="2200" b="1" dirty="0">
                <a:solidFill>
                  <a:srgbClr val="E63946"/>
                </a:solidFill>
                <a:latin typeface="Arial" pitchFamily="34" charset="0"/>
                <a:ea typeface="Arial" pitchFamily="34" charset="-122"/>
                <a:cs typeface="Arial" pitchFamily="34" charset="-120"/>
              </a:rPr>
              <a:t>01</a:t>
            </a:r>
            <a:endParaRPr lang="en-US" sz="2200" dirty="0"/>
          </a:p>
        </p:txBody>
      </p:sp>
      <p:sp>
        <p:nvSpPr>
          <p:cNvPr id="8" name="Text 6"/>
          <p:cNvSpPr/>
          <p:nvPr/>
        </p:nvSpPr>
        <p:spPr>
          <a:xfrm>
            <a:off x="731520" y="2651760"/>
            <a:ext cx="2176272" cy="64008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Inicio</a:t>
            </a:r>
            <a:endParaRPr lang="en-US" sz="1500" dirty="0"/>
          </a:p>
        </p:txBody>
      </p:sp>
      <p:sp>
        <p:nvSpPr>
          <p:cNvPr id="9" name="Shape 7"/>
          <p:cNvSpPr/>
          <p:nvPr/>
        </p:nvSpPr>
        <p:spPr>
          <a:xfrm>
            <a:off x="3291840" y="1965960"/>
            <a:ext cx="2542032" cy="1508760"/>
          </a:xfrm>
          <a:prstGeom prst="roundRect">
            <a:avLst>
              <a:gd name="adj" fmla="val 4848"/>
            </a:avLst>
          </a:prstGeom>
          <a:solidFill>
            <a:srgbClr val="15151F"/>
          </a:solidFill>
          <a:ln/>
          <a:effectLst>
            <a:outerShdw blurRad="127000" dist="38100" dir="5400000" algn="bl" rotWithShape="0">
              <a:srgbClr val="000000">
                <a:alpha val="35000"/>
              </a:srgbClr>
            </a:outerShdw>
          </a:effectLst>
        </p:spPr>
        <p:txBody>
          <a:bodyPr/>
          <a:lstStyle/>
          <a:p>
            <a:endParaRPr lang="en-US"/>
          </a:p>
        </p:txBody>
      </p:sp>
      <p:sp>
        <p:nvSpPr>
          <p:cNvPr id="10" name="Text 8"/>
          <p:cNvSpPr/>
          <p:nvPr/>
        </p:nvSpPr>
        <p:spPr>
          <a:xfrm>
            <a:off x="3474720" y="2112264"/>
            <a:ext cx="1097280" cy="457200"/>
          </a:xfrm>
          <a:prstGeom prst="rect">
            <a:avLst/>
          </a:prstGeom>
          <a:noFill/>
          <a:ln/>
        </p:spPr>
        <p:txBody>
          <a:bodyPr wrap="square" lIns="0" tIns="0" rIns="0" bIns="0" rtlCol="0" anchor="ctr"/>
          <a:lstStyle/>
          <a:p>
            <a:pPr marL="0" indent="0">
              <a:buNone/>
            </a:pPr>
            <a:r>
              <a:rPr lang="en-US" sz="2200" b="1" dirty="0">
                <a:solidFill>
                  <a:srgbClr val="E63946"/>
                </a:solidFill>
                <a:latin typeface="Arial" pitchFamily="34" charset="0"/>
                <a:ea typeface="Arial" pitchFamily="34" charset="-122"/>
                <a:cs typeface="Arial" pitchFamily="34" charset="-120"/>
              </a:rPr>
              <a:t>02</a:t>
            </a:r>
            <a:endParaRPr lang="en-US" sz="2200" dirty="0"/>
          </a:p>
        </p:txBody>
      </p:sp>
      <p:sp>
        <p:nvSpPr>
          <p:cNvPr id="11" name="Text 9"/>
          <p:cNvSpPr/>
          <p:nvPr/>
        </p:nvSpPr>
        <p:spPr>
          <a:xfrm>
            <a:off x="3474720" y="2651760"/>
            <a:ext cx="2176272" cy="64008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Dataset y plataformas</a:t>
            </a:r>
            <a:endParaRPr lang="en-US" sz="1500" dirty="0"/>
          </a:p>
        </p:txBody>
      </p:sp>
      <p:sp>
        <p:nvSpPr>
          <p:cNvPr id="12" name="Shape 10"/>
          <p:cNvSpPr/>
          <p:nvPr/>
        </p:nvSpPr>
        <p:spPr>
          <a:xfrm>
            <a:off x="6035040" y="1965960"/>
            <a:ext cx="2542032" cy="1508760"/>
          </a:xfrm>
          <a:prstGeom prst="roundRect">
            <a:avLst>
              <a:gd name="adj" fmla="val 4848"/>
            </a:avLst>
          </a:prstGeom>
          <a:solidFill>
            <a:srgbClr val="15151F"/>
          </a:solidFill>
          <a:ln/>
          <a:effectLst>
            <a:outerShdw blurRad="127000" dist="38100" dir="5400000" algn="bl" rotWithShape="0">
              <a:srgbClr val="000000">
                <a:alpha val="35000"/>
              </a:srgbClr>
            </a:outerShdw>
          </a:effectLst>
        </p:spPr>
        <p:txBody>
          <a:bodyPr/>
          <a:lstStyle/>
          <a:p>
            <a:endParaRPr lang="en-US"/>
          </a:p>
        </p:txBody>
      </p:sp>
      <p:sp>
        <p:nvSpPr>
          <p:cNvPr id="13" name="Text 11"/>
          <p:cNvSpPr/>
          <p:nvPr/>
        </p:nvSpPr>
        <p:spPr>
          <a:xfrm>
            <a:off x="6217920" y="2112264"/>
            <a:ext cx="1097280" cy="457200"/>
          </a:xfrm>
          <a:prstGeom prst="rect">
            <a:avLst/>
          </a:prstGeom>
          <a:noFill/>
          <a:ln/>
        </p:spPr>
        <p:txBody>
          <a:bodyPr wrap="square" lIns="0" tIns="0" rIns="0" bIns="0" rtlCol="0" anchor="ctr"/>
          <a:lstStyle/>
          <a:p>
            <a:pPr marL="0" indent="0">
              <a:buNone/>
            </a:pPr>
            <a:r>
              <a:rPr lang="en-US" sz="2200" b="1" dirty="0">
                <a:solidFill>
                  <a:srgbClr val="8B5CF6"/>
                </a:solidFill>
                <a:latin typeface="Arial" pitchFamily="34" charset="0"/>
                <a:ea typeface="Arial" pitchFamily="34" charset="-122"/>
                <a:cs typeface="Arial" pitchFamily="34" charset="-120"/>
              </a:rPr>
              <a:t>03</a:t>
            </a:r>
            <a:endParaRPr lang="en-US" sz="2200" dirty="0"/>
          </a:p>
        </p:txBody>
      </p:sp>
      <p:sp>
        <p:nvSpPr>
          <p:cNvPr id="14" name="Text 12"/>
          <p:cNvSpPr/>
          <p:nvPr/>
        </p:nvSpPr>
        <p:spPr>
          <a:xfrm>
            <a:off x="6217920" y="2651760"/>
            <a:ext cx="2176272" cy="64008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Dashboard</a:t>
            </a:r>
            <a:endParaRPr lang="en-US" sz="1500" dirty="0"/>
          </a:p>
        </p:txBody>
      </p:sp>
      <p:sp>
        <p:nvSpPr>
          <p:cNvPr id="15" name="Shape 13"/>
          <p:cNvSpPr/>
          <p:nvPr/>
        </p:nvSpPr>
        <p:spPr>
          <a:xfrm>
            <a:off x="8778240" y="1965960"/>
            <a:ext cx="2542032" cy="1508760"/>
          </a:xfrm>
          <a:prstGeom prst="roundRect">
            <a:avLst>
              <a:gd name="adj" fmla="val 4848"/>
            </a:avLst>
          </a:prstGeom>
          <a:solidFill>
            <a:srgbClr val="15151F"/>
          </a:solidFill>
          <a:ln/>
          <a:effectLst>
            <a:outerShdw blurRad="127000" dist="38100" dir="5400000" algn="bl" rotWithShape="0">
              <a:srgbClr val="000000">
                <a:alpha val="35000"/>
              </a:srgbClr>
            </a:outerShdw>
          </a:effectLst>
        </p:spPr>
        <p:txBody>
          <a:bodyPr/>
          <a:lstStyle/>
          <a:p>
            <a:endParaRPr lang="en-US"/>
          </a:p>
        </p:txBody>
      </p:sp>
      <p:sp>
        <p:nvSpPr>
          <p:cNvPr id="16" name="Text 14"/>
          <p:cNvSpPr/>
          <p:nvPr/>
        </p:nvSpPr>
        <p:spPr>
          <a:xfrm>
            <a:off x="8961120" y="2112264"/>
            <a:ext cx="1097280" cy="457200"/>
          </a:xfrm>
          <a:prstGeom prst="rect">
            <a:avLst/>
          </a:prstGeom>
          <a:noFill/>
          <a:ln/>
        </p:spPr>
        <p:txBody>
          <a:bodyPr wrap="square" lIns="0" tIns="0" rIns="0" bIns="0" rtlCol="0" anchor="ctr"/>
          <a:lstStyle/>
          <a:p>
            <a:pPr marL="0" indent="0">
              <a:buNone/>
            </a:pPr>
            <a:r>
              <a:rPr lang="en-US" sz="2200" b="1" dirty="0">
                <a:solidFill>
                  <a:srgbClr val="8B5CF6"/>
                </a:solidFill>
                <a:latin typeface="Arial" pitchFamily="34" charset="0"/>
                <a:ea typeface="Arial" pitchFamily="34" charset="-122"/>
                <a:cs typeface="Arial" pitchFamily="34" charset="-120"/>
              </a:rPr>
              <a:t>04</a:t>
            </a:r>
            <a:endParaRPr lang="en-US" sz="2200" dirty="0"/>
          </a:p>
        </p:txBody>
      </p:sp>
      <p:sp>
        <p:nvSpPr>
          <p:cNvPr id="17" name="Text 15"/>
          <p:cNvSpPr/>
          <p:nvPr/>
        </p:nvSpPr>
        <p:spPr>
          <a:xfrm>
            <a:off x="8961120" y="2651760"/>
            <a:ext cx="2176272" cy="64008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Recomendación</a:t>
            </a:r>
            <a:endParaRPr lang="en-US" sz="1500" dirty="0"/>
          </a:p>
        </p:txBody>
      </p:sp>
      <p:sp>
        <p:nvSpPr>
          <p:cNvPr id="18" name="Shape 16"/>
          <p:cNvSpPr/>
          <p:nvPr/>
        </p:nvSpPr>
        <p:spPr>
          <a:xfrm>
            <a:off x="548640" y="3749040"/>
            <a:ext cx="2542032" cy="1508760"/>
          </a:xfrm>
          <a:prstGeom prst="roundRect">
            <a:avLst>
              <a:gd name="adj" fmla="val 4848"/>
            </a:avLst>
          </a:prstGeom>
          <a:solidFill>
            <a:srgbClr val="15151F"/>
          </a:solidFill>
          <a:ln/>
          <a:effectLst>
            <a:outerShdw blurRad="127000" dist="38100" dir="5400000" algn="bl" rotWithShape="0">
              <a:srgbClr val="000000">
                <a:alpha val="35000"/>
              </a:srgbClr>
            </a:outerShdw>
          </a:effectLst>
        </p:spPr>
        <p:txBody>
          <a:bodyPr/>
          <a:lstStyle/>
          <a:p>
            <a:endParaRPr lang="en-US"/>
          </a:p>
        </p:txBody>
      </p:sp>
      <p:sp>
        <p:nvSpPr>
          <p:cNvPr id="19" name="Text 17"/>
          <p:cNvSpPr/>
          <p:nvPr/>
        </p:nvSpPr>
        <p:spPr>
          <a:xfrm>
            <a:off x="731520" y="3895344"/>
            <a:ext cx="1097280" cy="457200"/>
          </a:xfrm>
          <a:prstGeom prst="rect">
            <a:avLst/>
          </a:prstGeom>
          <a:noFill/>
          <a:ln/>
        </p:spPr>
        <p:txBody>
          <a:bodyPr wrap="square" lIns="0" tIns="0" rIns="0" bIns="0" rtlCol="0" anchor="ctr"/>
          <a:lstStyle/>
          <a:p>
            <a:pPr marL="0" indent="0">
              <a:buNone/>
            </a:pPr>
            <a:r>
              <a:rPr lang="en-US" sz="2200" b="1" dirty="0">
                <a:solidFill>
                  <a:srgbClr val="3B82F6"/>
                </a:solidFill>
                <a:latin typeface="Arial" pitchFamily="34" charset="0"/>
                <a:ea typeface="Arial" pitchFamily="34" charset="-122"/>
                <a:cs typeface="Arial" pitchFamily="34" charset="-120"/>
              </a:rPr>
              <a:t>05</a:t>
            </a:r>
            <a:endParaRPr lang="en-US" sz="2200" dirty="0"/>
          </a:p>
        </p:txBody>
      </p:sp>
      <p:sp>
        <p:nvSpPr>
          <p:cNvPr id="20" name="Text 18"/>
          <p:cNvSpPr/>
          <p:nvPr/>
        </p:nvSpPr>
        <p:spPr>
          <a:xfrm>
            <a:off x="731520" y="4434840"/>
            <a:ext cx="2176272" cy="64008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Asistente IA</a:t>
            </a:r>
            <a:endParaRPr lang="en-US" sz="1500" dirty="0"/>
          </a:p>
        </p:txBody>
      </p:sp>
      <p:sp>
        <p:nvSpPr>
          <p:cNvPr id="21" name="Shape 19"/>
          <p:cNvSpPr/>
          <p:nvPr/>
        </p:nvSpPr>
        <p:spPr>
          <a:xfrm>
            <a:off x="3291840" y="3749040"/>
            <a:ext cx="2542032" cy="1508760"/>
          </a:xfrm>
          <a:prstGeom prst="roundRect">
            <a:avLst>
              <a:gd name="adj" fmla="val 4848"/>
            </a:avLst>
          </a:prstGeom>
          <a:solidFill>
            <a:srgbClr val="15151F"/>
          </a:solidFill>
          <a:ln/>
          <a:effectLst>
            <a:outerShdw blurRad="127000" dist="38100" dir="5400000" algn="bl" rotWithShape="0">
              <a:srgbClr val="000000">
                <a:alpha val="35000"/>
              </a:srgbClr>
            </a:outerShdw>
          </a:effectLst>
        </p:spPr>
        <p:txBody>
          <a:bodyPr/>
          <a:lstStyle/>
          <a:p>
            <a:endParaRPr lang="en-US"/>
          </a:p>
        </p:txBody>
      </p:sp>
      <p:sp>
        <p:nvSpPr>
          <p:cNvPr id="22" name="Text 20"/>
          <p:cNvSpPr/>
          <p:nvPr/>
        </p:nvSpPr>
        <p:spPr>
          <a:xfrm>
            <a:off x="3474720" y="3895344"/>
            <a:ext cx="1097280" cy="457200"/>
          </a:xfrm>
          <a:prstGeom prst="rect">
            <a:avLst/>
          </a:prstGeom>
          <a:noFill/>
          <a:ln/>
        </p:spPr>
        <p:txBody>
          <a:bodyPr wrap="square" lIns="0" tIns="0" rIns="0" bIns="0" rtlCol="0" anchor="ctr"/>
          <a:lstStyle/>
          <a:p>
            <a:pPr marL="0" indent="0">
              <a:buNone/>
            </a:pPr>
            <a:r>
              <a:rPr lang="en-US" sz="2200" b="1" dirty="0">
                <a:solidFill>
                  <a:srgbClr val="3B82F6"/>
                </a:solidFill>
                <a:latin typeface="Arial" pitchFamily="34" charset="0"/>
                <a:ea typeface="Arial" pitchFamily="34" charset="-122"/>
                <a:cs typeface="Arial" pitchFamily="34" charset="-120"/>
              </a:rPr>
              <a:t>06</a:t>
            </a:r>
            <a:endParaRPr lang="en-US" sz="2200" dirty="0"/>
          </a:p>
        </p:txBody>
      </p:sp>
      <p:sp>
        <p:nvSpPr>
          <p:cNvPr id="23" name="Text 21"/>
          <p:cNvSpPr/>
          <p:nvPr/>
        </p:nvSpPr>
        <p:spPr>
          <a:xfrm>
            <a:off x="3474720" y="4434840"/>
            <a:ext cx="2176272" cy="64008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Sorprendeme</a:t>
            </a:r>
            <a:endParaRPr lang="en-US" sz="1500" dirty="0"/>
          </a:p>
        </p:txBody>
      </p:sp>
      <p:sp>
        <p:nvSpPr>
          <p:cNvPr id="24" name="Shape 22"/>
          <p:cNvSpPr/>
          <p:nvPr/>
        </p:nvSpPr>
        <p:spPr>
          <a:xfrm>
            <a:off x="6035040" y="3749040"/>
            <a:ext cx="2542032" cy="1508760"/>
          </a:xfrm>
          <a:prstGeom prst="roundRect">
            <a:avLst>
              <a:gd name="adj" fmla="val 4848"/>
            </a:avLst>
          </a:prstGeom>
          <a:solidFill>
            <a:srgbClr val="15151F"/>
          </a:solidFill>
          <a:ln/>
          <a:effectLst>
            <a:outerShdw blurRad="127000" dist="38100" dir="5400000" algn="bl" rotWithShape="0">
              <a:srgbClr val="000000">
                <a:alpha val="35000"/>
              </a:srgbClr>
            </a:outerShdw>
          </a:effectLst>
        </p:spPr>
        <p:txBody>
          <a:bodyPr/>
          <a:lstStyle/>
          <a:p>
            <a:endParaRPr lang="en-US"/>
          </a:p>
        </p:txBody>
      </p:sp>
      <p:sp>
        <p:nvSpPr>
          <p:cNvPr id="25" name="Text 23"/>
          <p:cNvSpPr/>
          <p:nvPr/>
        </p:nvSpPr>
        <p:spPr>
          <a:xfrm>
            <a:off x="6217920" y="3895344"/>
            <a:ext cx="1097280" cy="457200"/>
          </a:xfrm>
          <a:prstGeom prst="rect">
            <a:avLst/>
          </a:prstGeom>
          <a:noFill/>
          <a:ln/>
        </p:spPr>
        <p:txBody>
          <a:bodyPr wrap="square" lIns="0" tIns="0" rIns="0" bIns="0" rtlCol="0" anchor="ctr"/>
          <a:lstStyle/>
          <a:p>
            <a:pPr marL="0" indent="0">
              <a:buNone/>
            </a:pPr>
            <a:r>
              <a:rPr lang="en-US" sz="2200" b="1" dirty="0">
                <a:solidFill>
                  <a:srgbClr val="3B82F6"/>
                </a:solidFill>
                <a:latin typeface="Arial" pitchFamily="34" charset="0"/>
                <a:ea typeface="Arial" pitchFamily="34" charset="-122"/>
                <a:cs typeface="Arial" pitchFamily="34" charset="-120"/>
              </a:rPr>
              <a:t>07</a:t>
            </a:r>
            <a:endParaRPr lang="en-US" sz="2200" dirty="0"/>
          </a:p>
        </p:txBody>
      </p:sp>
      <p:sp>
        <p:nvSpPr>
          <p:cNvPr id="26" name="Text 24"/>
          <p:cNvSpPr/>
          <p:nvPr/>
        </p:nvSpPr>
        <p:spPr>
          <a:xfrm>
            <a:off x="6217920" y="4434840"/>
            <a:ext cx="2176272" cy="64008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Comparador</a:t>
            </a:r>
            <a:endParaRPr lang="en-US" sz="1500" dirty="0"/>
          </a:p>
        </p:txBody>
      </p:sp>
      <p:sp>
        <p:nvSpPr>
          <p:cNvPr id="27" name="Text 25"/>
          <p:cNvSpPr/>
          <p:nvPr/>
        </p:nvSpPr>
        <p:spPr>
          <a:xfrm>
            <a:off x="548640" y="5577840"/>
            <a:ext cx="10515600" cy="457200"/>
          </a:xfrm>
          <a:prstGeom prst="rect">
            <a:avLst/>
          </a:prstGeom>
          <a:noFill/>
          <a:ln/>
        </p:spPr>
        <p:txBody>
          <a:bodyPr wrap="square" lIns="0" tIns="0" rIns="0" bIns="0" rtlCol="0" anchor="ctr"/>
          <a:lstStyle/>
          <a:p>
            <a:pPr marL="0" indent="0">
              <a:buNone/>
            </a:pPr>
            <a:r>
              <a:rPr lang="en-US" sz="1300" i="1" dirty="0">
                <a:solidFill>
                  <a:srgbClr val="9CA3AF"/>
                </a:solidFill>
                <a:latin typeface="Arial" pitchFamily="34" charset="0"/>
                <a:ea typeface="Arial" pitchFamily="34" charset="-122"/>
                <a:cs typeface="Arial" pitchFamily="34" charset="-120"/>
              </a:rPr>
              <a:t>Cada sección repite el mismo patrón: qué ve el usuario, qué hace la interfaz y qué pasa detrás de escena (datos, filtros o IA).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12"/>
        </a:solidFill>
        <a:effectLst/>
      </p:bgPr>
    </p:bg>
    <p:spTree>
      <p:nvGrpSpPr>
        <p:cNvPr id="1" name=""/>
        <p:cNvGrpSpPr/>
        <p:nvPr/>
      </p:nvGrpSpPr>
      <p:grpSpPr>
        <a:xfrm>
          <a:off x="0" y="0"/>
          <a:ext cx="0" cy="0"/>
          <a:chOff x="0" y="0"/>
          <a:chExt cx="0" cy="0"/>
        </a:xfrm>
      </p:grpSpPr>
      <p:sp>
        <p:nvSpPr>
          <p:cNvPr id="2" name="Text 0"/>
          <p:cNvSpPr/>
          <p:nvPr/>
        </p:nvSpPr>
        <p:spPr>
          <a:xfrm>
            <a:off x="457200" y="256032"/>
            <a:ext cx="2743200" cy="36576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STREAM</a:t>
            </a:r>
            <a:r>
              <a:rPr lang="en-US" sz="1400" b="1" kern="0" spc="100" dirty="0">
                <a:solidFill>
                  <a:srgbClr val="E63946"/>
                </a:solidFill>
                <a:latin typeface="Arial" pitchFamily="34" charset="0"/>
                <a:ea typeface="Arial" pitchFamily="34" charset="-122"/>
                <a:cs typeface="Arial" pitchFamily="34" charset="-120"/>
              </a:rPr>
              <a:t>AI</a:t>
            </a:r>
            <a:endParaRPr lang="en-US" sz="1400" dirty="0"/>
          </a:p>
        </p:txBody>
      </p:sp>
      <p:sp>
        <p:nvSpPr>
          <p:cNvPr id="3" name="Text 1"/>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rial" pitchFamily="34" charset="0"/>
                <a:ea typeface="Arial" pitchFamily="34" charset="-122"/>
                <a:cs typeface="Arial" pitchFamily="34" charset="-120"/>
              </a:rPr>
              <a:t>3</a:t>
            </a:r>
            <a:endParaRPr lang="en-US" sz="1000" dirty="0"/>
          </a:p>
        </p:txBody>
      </p:sp>
      <p:sp>
        <p:nvSpPr>
          <p:cNvPr id="4" name="Text 2"/>
          <p:cNvSpPr/>
          <p:nvPr/>
        </p:nvSpPr>
        <p:spPr>
          <a:xfrm>
            <a:off x="457200" y="685800"/>
            <a:ext cx="9144000" cy="274320"/>
          </a:xfrm>
          <a:prstGeom prst="rect">
            <a:avLst/>
          </a:prstGeom>
          <a:noFill/>
          <a:ln/>
        </p:spPr>
        <p:txBody>
          <a:bodyPr wrap="square" lIns="0" tIns="0" rIns="0" bIns="0" rtlCol="0" anchor="ctr"/>
          <a:lstStyle/>
          <a:p>
            <a:pPr marL="0" indent="0">
              <a:buNone/>
            </a:pPr>
            <a:r>
              <a:rPr lang="en-US" sz="1200" b="1" kern="0" spc="200" dirty="0">
                <a:solidFill>
                  <a:srgbClr val="E63946"/>
                </a:solidFill>
                <a:latin typeface="Arial" pitchFamily="34" charset="0"/>
                <a:ea typeface="Arial" pitchFamily="34" charset="-122"/>
                <a:cs typeface="Arial" pitchFamily="34" charset="-120"/>
              </a:rPr>
              <a:t>01 · RECORRIDO DEL USUARIO</a:t>
            </a:r>
            <a:endParaRPr lang="en-US" sz="1200" dirty="0"/>
          </a:p>
        </p:txBody>
      </p:sp>
      <p:sp>
        <p:nvSpPr>
          <p:cNvPr id="5" name="Text 3"/>
          <p:cNvSpPr/>
          <p:nvPr/>
        </p:nvSpPr>
        <p:spPr>
          <a:xfrm>
            <a:off x="457200" y="941832"/>
            <a:ext cx="10515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La puerta de entrada</a:t>
            </a:r>
            <a:endParaRPr lang="en-US" sz="2800" dirty="0"/>
          </a:p>
        </p:txBody>
      </p:sp>
      <p:sp>
        <p:nvSpPr>
          <p:cNvPr id="6" name="Shape 4"/>
          <p:cNvSpPr/>
          <p:nvPr/>
        </p:nvSpPr>
        <p:spPr>
          <a:xfrm>
            <a:off x="1124179" y="1426464"/>
            <a:ext cx="9943338" cy="4087368"/>
          </a:xfrm>
          <a:prstGeom prst="roundRect">
            <a:avLst>
              <a:gd name="adj" fmla="val 1342"/>
            </a:avLst>
          </a:prstGeom>
          <a:solidFill>
            <a:srgbClr val="000000"/>
          </a:solidFill>
          <a:ln w="12700">
            <a:solidFill>
              <a:srgbClr val="2A2A3A"/>
            </a:solidFill>
            <a:prstDash val="solid"/>
          </a:ln>
          <a:effectLst>
            <a:outerShdw blurRad="127000" dist="38100" dir="5400000" algn="bl" rotWithShape="0">
              <a:srgbClr val="000000">
                <a:alpha val="35000"/>
              </a:srgbClr>
            </a:outerShdw>
          </a:effectLst>
        </p:spPr>
        <p:txBody>
          <a:bodyPr/>
          <a:lstStyle/>
          <a:p>
            <a:endParaRPr lang="en-US"/>
          </a:p>
        </p:txBody>
      </p:sp>
      <p:pic>
        <p:nvPicPr>
          <p:cNvPr id="7" name="Image 0" descr="/home/claude/imgs/shot1_inicio.png"/>
          <p:cNvPicPr>
            <a:picLocks noChangeAspect="1"/>
          </p:cNvPicPr>
          <p:nvPr/>
        </p:nvPicPr>
        <p:blipFill>
          <a:blip r:embed="rId3"/>
          <a:stretch>
            <a:fillRect/>
          </a:stretch>
        </p:blipFill>
        <p:spPr>
          <a:xfrm>
            <a:off x="1179043" y="1481328"/>
            <a:ext cx="9833610" cy="3977640"/>
          </a:xfrm>
          <a:prstGeom prst="rect">
            <a:avLst/>
          </a:prstGeom>
        </p:spPr>
      </p:pic>
      <p:sp>
        <p:nvSpPr>
          <p:cNvPr id="8" name="Shape 5"/>
          <p:cNvSpPr/>
          <p:nvPr/>
        </p:nvSpPr>
        <p:spPr>
          <a:xfrm>
            <a:off x="2555748" y="1879092"/>
            <a:ext cx="3540100" cy="1352398"/>
          </a:xfrm>
          <a:prstGeom prst="roundRect">
            <a:avLst>
              <a:gd name="adj" fmla="val 4057"/>
            </a:avLst>
          </a:prstGeom>
          <a:ln w="28575">
            <a:solidFill>
              <a:srgbClr val="E63946"/>
            </a:solidFill>
            <a:prstDash val="solid"/>
          </a:ln>
        </p:spPr>
        <p:txBody>
          <a:bodyPr/>
          <a:lstStyle/>
          <a:p>
            <a:endParaRPr lang="en-US"/>
          </a:p>
        </p:txBody>
      </p:sp>
      <p:sp>
        <p:nvSpPr>
          <p:cNvPr id="9" name="Shape 6"/>
          <p:cNvSpPr/>
          <p:nvPr/>
        </p:nvSpPr>
        <p:spPr>
          <a:xfrm>
            <a:off x="2409444" y="1732788"/>
            <a:ext cx="292608" cy="292608"/>
          </a:xfrm>
          <a:prstGeom prst="ellipse">
            <a:avLst/>
          </a:prstGeom>
          <a:solidFill>
            <a:srgbClr val="E63946"/>
          </a:solidFill>
          <a:ln w="19050">
            <a:solidFill>
              <a:srgbClr val="0A0A12"/>
            </a:solidFill>
            <a:prstDash val="solid"/>
          </a:ln>
          <a:effectLst>
            <a:outerShdw blurRad="127000" dist="38100" dir="5400000" algn="bl" rotWithShape="0">
              <a:srgbClr val="000000">
                <a:alpha val="35000"/>
              </a:srgbClr>
            </a:outerShdw>
          </a:effectLst>
        </p:spPr>
        <p:txBody>
          <a:bodyPr/>
          <a:lstStyle/>
          <a:p>
            <a:endParaRPr lang="en-US"/>
          </a:p>
        </p:txBody>
      </p:sp>
      <p:sp>
        <p:nvSpPr>
          <p:cNvPr id="10" name="Text 7"/>
          <p:cNvSpPr/>
          <p:nvPr/>
        </p:nvSpPr>
        <p:spPr>
          <a:xfrm>
            <a:off x="2409444" y="1732788"/>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Shape 8"/>
          <p:cNvSpPr/>
          <p:nvPr/>
        </p:nvSpPr>
        <p:spPr>
          <a:xfrm>
            <a:off x="2555748" y="4902098"/>
            <a:ext cx="1770050" cy="536981"/>
          </a:xfrm>
          <a:prstGeom prst="roundRect">
            <a:avLst>
              <a:gd name="adj" fmla="val 10217"/>
            </a:avLst>
          </a:prstGeom>
          <a:ln w="28575">
            <a:solidFill>
              <a:srgbClr val="8B5CF6"/>
            </a:solidFill>
            <a:prstDash val="solid"/>
          </a:ln>
        </p:spPr>
        <p:txBody>
          <a:bodyPr/>
          <a:lstStyle/>
          <a:p>
            <a:endParaRPr lang="en-US"/>
          </a:p>
        </p:txBody>
      </p:sp>
      <p:sp>
        <p:nvSpPr>
          <p:cNvPr id="12" name="Shape 9"/>
          <p:cNvSpPr/>
          <p:nvPr/>
        </p:nvSpPr>
        <p:spPr>
          <a:xfrm>
            <a:off x="2409444" y="4755794"/>
            <a:ext cx="292608" cy="292608"/>
          </a:xfrm>
          <a:prstGeom prst="ellipse">
            <a:avLst/>
          </a:prstGeom>
          <a:solidFill>
            <a:srgbClr val="8B5CF6"/>
          </a:solidFill>
          <a:ln w="19050">
            <a:solidFill>
              <a:srgbClr val="0A0A12"/>
            </a:solidFill>
            <a:prstDash val="solid"/>
          </a:ln>
          <a:effectLst>
            <a:outerShdw blurRad="127000" dist="38100" dir="5400000" algn="bl" rotWithShape="0">
              <a:srgbClr val="000000">
                <a:alpha val="35000"/>
              </a:srgbClr>
            </a:outerShdw>
          </a:effectLst>
        </p:spPr>
        <p:txBody>
          <a:bodyPr/>
          <a:lstStyle/>
          <a:p>
            <a:endParaRPr lang="en-US"/>
          </a:p>
        </p:txBody>
      </p:sp>
      <p:sp>
        <p:nvSpPr>
          <p:cNvPr id="13" name="Text 10"/>
          <p:cNvSpPr/>
          <p:nvPr/>
        </p:nvSpPr>
        <p:spPr>
          <a:xfrm>
            <a:off x="2409444" y="4755794"/>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Shape 11"/>
          <p:cNvSpPr/>
          <p:nvPr/>
        </p:nvSpPr>
        <p:spPr>
          <a:xfrm>
            <a:off x="548640" y="5678424"/>
            <a:ext cx="237744" cy="237744"/>
          </a:xfrm>
          <a:prstGeom prst="ellipse">
            <a:avLst/>
          </a:prstGeom>
          <a:solidFill>
            <a:srgbClr val="E63946"/>
          </a:solidFill>
          <a:ln/>
        </p:spPr>
        <p:txBody>
          <a:bodyPr/>
          <a:lstStyle/>
          <a:p>
            <a:endParaRPr lang="en-US"/>
          </a:p>
        </p:txBody>
      </p:sp>
      <p:sp>
        <p:nvSpPr>
          <p:cNvPr id="15" name="Text 12"/>
          <p:cNvSpPr/>
          <p:nvPr/>
        </p:nvSpPr>
        <p:spPr>
          <a:xfrm>
            <a:off x="548640" y="5678424"/>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6" name="Text 13"/>
          <p:cNvSpPr/>
          <p:nvPr/>
        </p:nvSpPr>
        <p:spPr>
          <a:xfrm>
            <a:off x="859536" y="5623560"/>
            <a:ext cx="4892040" cy="329184"/>
          </a:xfrm>
          <a:prstGeom prst="rect">
            <a:avLst/>
          </a:prstGeom>
          <a:noFill/>
          <a:ln/>
        </p:spPr>
        <p:txBody>
          <a:bodyPr wrap="square" lIns="0" tIns="0" rIns="0" bIns="0" rtlCol="0" anchor="ctr"/>
          <a:lstStyle/>
          <a:p>
            <a:pPr marL="0" indent="0">
              <a:buNone/>
            </a:pPr>
            <a:r>
              <a:rPr lang="en-US" sz="1250" dirty="0">
                <a:solidFill>
                  <a:srgbClr val="D1D5DB"/>
                </a:solidFill>
                <a:latin typeface="Arial" pitchFamily="34" charset="0"/>
                <a:ea typeface="Arial" pitchFamily="34" charset="-122"/>
                <a:cs typeface="Arial" pitchFamily="34" charset="-120"/>
              </a:rPr>
              <a:t>Propuesta de valor: qué resuelve la app y con qué dataset</a:t>
            </a:r>
            <a:endParaRPr lang="en-US" sz="1250" dirty="0"/>
          </a:p>
        </p:txBody>
      </p:sp>
      <p:sp>
        <p:nvSpPr>
          <p:cNvPr id="17" name="Shape 14"/>
          <p:cNvSpPr/>
          <p:nvPr/>
        </p:nvSpPr>
        <p:spPr>
          <a:xfrm>
            <a:off x="6071616" y="5678424"/>
            <a:ext cx="237744" cy="237744"/>
          </a:xfrm>
          <a:prstGeom prst="ellipse">
            <a:avLst/>
          </a:prstGeom>
          <a:solidFill>
            <a:srgbClr val="8B5CF6"/>
          </a:solidFill>
          <a:ln/>
        </p:spPr>
        <p:txBody>
          <a:bodyPr/>
          <a:lstStyle/>
          <a:p>
            <a:endParaRPr lang="en-US"/>
          </a:p>
        </p:txBody>
      </p:sp>
      <p:sp>
        <p:nvSpPr>
          <p:cNvPr id="18" name="Text 15"/>
          <p:cNvSpPr/>
          <p:nvPr/>
        </p:nvSpPr>
        <p:spPr>
          <a:xfrm>
            <a:off x="6071616" y="5678424"/>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9" name="Text 16"/>
          <p:cNvSpPr/>
          <p:nvPr/>
        </p:nvSpPr>
        <p:spPr>
          <a:xfrm>
            <a:off x="6382512" y="5623560"/>
            <a:ext cx="4892040" cy="329184"/>
          </a:xfrm>
          <a:prstGeom prst="rect">
            <a:avLst/>
          </a:prstGeom>
          <a:noFill/>
          <a:ln/>
        </p:spPr>
        <p:txBody>
          <a:bodyPr wrap="square" lIns="0" tIns="0" rIns="0" bIns="0" rtlCol="0" anchor="ctr"/>
          <a:lstStyle/>
          <a:p>
            <a:pPr marL="0" indent="0">
              <a:buNone/>
            </a:pPr>
            <a:r>
              <a:rPr lang="en-US" sz="1250" dirty="0">
                <a:solidFill>
                  <a:srgbClr val="D1D5DB"/>
                </a:solidFill>
                <a:latin typeface="Arial" pitchFamily="34" charset="0"/>
                <a:ea typeface="Arial" pitchFamily="34" charset="-122"/>
                <a:cs typeface="Arial" pitchFamily="34" charset="-120"/>
              </a:rPr>
              <a:t>CTAs: llevan al motor de recomendación o al dashboard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12"/>
        </a:solidFill>
        <a:effectLst/>
      </p:bgPr>
    </p:bg>
    <p:spTree>
      <p:nvGrpSpPr>
        <p:cNvPr id="1" name=""/>
        <p:cNvGrpSpPr/>
        <p:nvPr/>
      </p:nvGrpSpPr>
      <p:grpSpPr>
        <a:xfrm>
          <a:off x="0" y="0"/>
          <a:ext cx="0" cy="0"/>
          <a:chOff x="0" y="0"/>
          <a:chExt cx="0" cy="0"/>
        </a:xfrm>
      </p:grpSpPr>
      <p:sp>
        <p:nvSpPr>
          <p:cNvPr id="2" name="Text 0"/>
          <p:cNvSpPr/>
          <p:nvPr/>
        </p:nvSpPr>
        <p:spPr>
          <a:xfrm>
            <a:off x="457200" y="256032"/>
            <a:ext cx="2743200" cy="36576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STREAM</a:t>
            </a:r>
            <a:r>
              <a:rPr lang="en-US" sz="1400" b="1" kern="0" spc="100" dirty="0">
                <a:solidFill>
                  <a:srgbClr val="E63946"/>
                </a:solidFill>
                <a:latin typeface="Arial" pitchFamily="34" charset="0"/>
                <a:ea typeface="Arial" pitchFamily="34" charset="-122"/>
                <a:cs typeface="Arial" pitchFamily="34" charset="-120"/>
              </a:rPr>
              <a:t>AI</a:t>
            </a:r>
            <a:endParaRPr lang="en-US" sz="1400" dirty="0"/>
          </a:p>
        </p:txBody>
      </p:sp>
      <p:sp>
        <p:nvSpPr>
          <p:cNvPr id="3" name="Text 1"/>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rial" pitchFamily="34" charset="0"/>
                <a:ea typeface="Arial" pitchFamily="34" charset="-122"/>
                <a:cs typeface="Arial" pitchFamily="34" charset="-120"/>
              </a:rPr>
              <a:t>4</a:t>
            </a:r>
            <a:endParaRPr lang="en-US" sz="1000" dirty="0"/>
          </a:p>
        </p:txBody>
      </p:sp>
      <p:sp>
        <p:nvSpPr>
          <p:cNvPr id="4" name="Text 2"/>
          <p:cNvSpPr/>
          <p:nvPr/>
        </p:nvSpPr>
        <p:spPr>
          <a:xfrm>
            <a:off x="457200" y="685800"/>
            <a:ext cx="9144000" cy="274320"/>
          </a:xfrm>
          <a:prstGeom prst="rect">
            <a:avLst/>
          </a:prstGeom>
          <a:noFill/>
          <a:ln/>
        </p:spPr>
        <p:txBody>
          <a:bodyPr wrap="square" lIns="0" tIns="0" rIns="0" bIns="0" rtlCol="0" anchor="ctr"/>
          <a:lstStyle/>
          <a:p>
            <a:pPr marL="0" indent="0">
              <a:buNone/>
            </a:pPr>
            <a:r>
              <a:rPr lang="en-US" sz="1200" b="1" kern="0" spc="200" dirty="0">
                <a:solidFill>
                  <a:srgbClr val="E63946"/>
                </a:solidFill>
                <a:latin typeface="Arial" pitchFamily="34" charset="0"/>
                <a:ea typeface="Arial" pitchFamily="34" charset="-122"/>
                <a:cs typeface="Arial" pitchFamily="34" charset="-120"/>
              </a:rPr>
              <a:t>02 · RECORRIDO DEL USUARIO</a:t>
            </a:r>
            <a:endParaRPr lang="en-US" sz="1200" dirty="0"/>
          </a:p>
        </p:txBody>
      </p:sp>
      <p:sp>
        <p:nvSpPr>
          <p:cNvPr id="5" name="Text 3"/>
          <p:cNvSpPr/>
          <p:nvPr/>
        </p:nvSpPr>
        <p:spPr>
          <a:xfrm>
            <a:off x="457200" y="941832"/>
            <a:ext cx="10515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De qué está hecho el catálogo</a:t>
            </a:r>
            <a:endParaRPr lang="en-US" sz="2800" dirty="0"/>
          </a:p>
        </p:txBody>
      </p:sp>
      <p:sp>
        <p:nvSpPr>
          <p:cNvPr id="6" name="Shape 4"/>
          <p:cNvSpPr/>
          <p:nvPr/>
        </p:nvSpPr>
        <p:spPr>
          <a:xfrm>
            <a:off x="1124179" y="1426464"/>
            <a:ext cx="9943338" cy="4087368"/>
          </a:xfrm>
          <a:prstGeom prst="roundRect">
            <a:avLst>
              <a:gd name="adj" fmla="val 1342"/>
            </a:avLst>
          </a:prstGeom>
          <a:solidFill>
            <a:srgbClr val="000000"/>
          </a:solidFill>
          <a:ln w="12700">
            <a:solidFill>
              <a:srgbClr val="2A2A3A"/>
            </a:solidFill>
            <a:prstDash val="solid"/>
          </a:ln>
          <a:effectLst>
            <a:outerShdw blurRad="127000" dist="38100" dir="5400000" algn="bl" rotWithShape="0">
              <a:srgbClr val="000000">
                <a:alpha val="35000"/>
              </a:srgbClr>
            </a:outerShdw>
          </a:effectLst>
        </p:spPr>
        <p:txBody>
          <a:bodyPr/>
          <a:lstStyle/>
          <a:p>
            <a:endParaRPr lang="en-US"/>
          </a:p>
        </p:txBody>
      </p:sp>
      <p:pic>
        <p:nvPicPr>
          <p:cNvPr id="7" name="Image 0" descr="/home/claude/imgs/shot2_dataset.png"/>
          <p:cNvPicPr>
            <a:picLocks noChangeAspect="1"/>
          </p:cNvPicPr>
          <p:nvPr/>
        </p:nvPicPr>
        <p:blipFill>
          <a:blip r:embed="rId3"/>
          <a:stretch>
            <a:fillRect/>
          </a:stretch>
        </p:blipFill>
        <p:spPr>
          <a:xfrm>
            <a:off x="1179043" y="1481328"/>
            <a:ext cx="9833610" cy="3977640"/>
          </a:xfrm>
          <a:prstGeom prst="rect">
            <a:avLst/>
          </a:prstGeom>
        </p:spPr>
      </p:pic>
      <p:sp>
        <p:nvSpPr>
          <p:cNvPr id="8" name="Shape 5"/>
          <p:cNvSpPr/>
          <p:nvPr/>
        </p:nvSpPr>
        <p:spPr>
          <a:xfrm>
            <a:off x="2506580" y="2734285"/>
            <a:ext cx="6096838" cy="497205"/>
          </a:xfrm>
          <a:prstGeom prst="roundRect">
            <a:avLst>
              <a:gd name="adj" fmla="val 11034"/>
            </a:avLst>
          </a:prstGeom>
          <a:ln w="28575">
            <a:solidFill>
              <a:srgbClr val="E63946"/>
            </a:solidFill>
            <a:prstDash val="solid"/>
          </a:ln>
        </p:spPr>
        <p:txBody>
          <a:bodyPr/>
          <a:lstStyle/>
          <a:p>
            <a:endParaRPr lang="en-US"/>
          </a:p>
        </p:txBody>
      </p:sp>
      <p:sp>
        <p:nvSpPr>
          <p:cNvPr id="9" name="Shape 6"/>
          <p:cNvSpPr/>
          <p:nvPr/>
        </p:nvSpPr>
        <p:spPr>
          <a:xfrm>
            <a:off x="2360276" y="2587981"/>
            <a:ext cx="292608" cy="292608"/>
          </a:xfrm>
          <a:prstGeom prst="ellipse">
            <a:avLst/>
          </a:prstGeom>
          <a:solidFill>
            <a:srgbClr val="E63946"/>
          </a:solidFill>
          <a:ln w="19050">
            <a:solidFill>
              <a:srgbClr val="0A0A12"/>
            </a:solidFill>
            <a:prstDash val="solid"/>
          </a:ln>
          <a:effectLst>
            <a:outerShdw blurRad="127000" dist="38100" dir="5400000" algn="bl" rotWithShape="0">
              <a:srgbClr val="000000">
                <a:alpha val="35000"/>
              </a:srgbClr>
            </a:outerShdw>
          </a:effectLst>
        </p:spPr>
        <p:txBody>
          <a:bodyPr/>
          <a:lstStyle/>
          <a:p>
            <a:endParaRPr lang="en-US"/>
          </a:p>
        </p:txBody>
      </p:sp>
      <p:sp>
        <p:nvSpPr>
          <p:cNvPr id="10" name="Text 7"/>
          <p:cNvSpPr/>
          <p:nvPr/>
        </p:nvSpPr>
        <p:spPr>
          <a:xfrm>
            <a:off x="2360276" y="2587981"/>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Shape 8"/>
          <p:cNvSpPr/>
          <p:nvPr/>
        </p:nvSpPr>
        <p:spPr>
          <a:xfrm>
            <a:off x="2506580" y="3609365"/>
            <a:ext cx="4031780" cy="795528"/>
          </a:xfrm>
          <a:prstGeom prst="roundRect">
            <a:avLst>
              <a:gd name="adj" fmla="val 6897"/>
            </a:avLst>
          </a:prstGeom>
          <a:ln w="28575">
            <a:solidFill>
              <a:srgbClr val="8B5CF6"/>
            </a:solidFill>
            <a:prstDash val="solid"/>
          </a:ln>
        </p:spPr>
        <p:txBody>
          <a:bodyPr/>
          <a:lstStyle/>
          <a:p>
            <a:endParaRPr lang="en-US"/>
          </a:p>
        </p:txBody>
      </p:sp>
      <p:sp>
        <p:nvSpPr>
          <p:cNvPr id="12" name="Shape 9"/>
          <p:cNvSpPr/>
          <p:nvPr/>
        </p:nvSpPr>
        <p:spPr>
          <a:xfrm>
            <a:off x="2360276" y="3463061"/>
            <a:ext cx="292608" cy="292608"/>
          </a:xfrm>
          <a:prstGeom prst="ellipse">
            <a:avLst/>
          </a:prstGeom>
          <a:solidFill>
            <a:srgbClr val="8B5CF6"/>
          </a:solidFill>
          <a:ln w="19050">
            <a:solidFill>
              <a:srgbClr val="0A0A12"/>
            </a:solidFill>
            <a:prstDash val="solid"/>
          </a:ln>
          <a:effectLst>
            <a:outerShdw blurRad="127000" dist="38100" dir="5400000" algn="bl" rotWithShape="0">
              <a:srgbClr val="000000">
                <a:alpha val="35000"/>
              </a:srgbClr>
            </a:outerShdw>
          </a:effectLst>
        </p:spPr>
        <p:txBody>
          <a:bodyPr/>
          <a:lstStyle/>
          <a:p>
            <a:endParaRPr lang="en-US"/>
          </a:p>
        </p:txBody>
      </p:sp>
      <p:sp>
        <p:nvSpPr>
          <p:cNvPr id="13" name="Text 10"/>
          <p:cNvSpPr/>
          <p:nvPr/>
        </p:nvSpPr>
        <p:spPr>
          <a:xfrm>
            <a:off x="2360276" y="3463061"/>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Shape 11"/>
          <p:cNvSpPr/>
          <p:nvPr/>
        </p:nvSpPr>
        <p:spPr>
          <a:xfrm>
            <a:off x="548640" y="5678424"/>
            <a:ext cx="237744" cy="237744"/>
          </a:xfrm>
          <a:prstGeom prst="ellipse">
            <a:avLst/>
          </a:prstGeom>
          <a:solidFill>
            <a:srgbClr val="E63946"/>
          </a:solidFill>
          <a:ln/>
        </p:spPr>
        <p:txBody>
          <a:bodyPr/>
          <a:lstStyle/>
          <a:p>
            <a:endParaRPr lang="en-US"/>
          </a:p>
        </p:txBody>
      </p:sp>
      <p:sp>
        <p:nvSpPr>
          <p:cNvPr id="15" name="Text 12"/>
          <p:cNvSpPr/>
          <p:nvPr/>
        </p:nvSpPr>
        <p:spPr>
          <a:xfrm>
            <a:off x="548640" y="5678424"/>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6" name="Text 13"/>
          <p:cNvSpPr/>
          <p:nvPr/>
        </p:nvSpPr>
        <p:spPr>
          <a:xfrm>
            <a:off x="859536" y="5623560"/>
            <a:ext cx="4892040" cy="329184"/>
          </a:xfrm>
          <a:prstGeom prst="rect">
            <a:avLst/>
          </a:prstGeom>
          <a:noFill/>
          <a:ln/>
        </p:spPr>
        <p:txBody>
          <a:bodyPr wrap="square" lIns="0" tIns="0" rIns="0" bIns="0" rtlCol="0" anchor="ctr"/>
          <a:lstStyle/>
          <a:p>
            <a:pPr marL="0" indent="0">
              <a:buNone/>
            </a:pPr>
            <a:r>
              <a:rPr lang="en-US" sz="1250" dirty="0">
                <a:solidFill>
                  <a:srgbClr val="D1D5DB"/>
                </a:solidFill>
                <a:latin typeface="Arial" pitchFamily="34" charset="0"/>
                <a:ea typeface="Arial" pitchFamily="34" charset="-122"/>
                <a:cs typeface="Arial" pitchFamily="34" charset="-120"/>
              </a:rPr>
              <a:t>5 plataformas con su cantidad real de títulos</a:t>
            </a:r>
            <a:endParaRPr lang="en-US" sz="1250" dirty="0"/>
          </a:p>
        </p:txBody>
      </p:sp>
      <p:sp>
        <p:nvSpPr>
          <p:cNvPr id="17" name="Shape 14"/>
          <p:cNvSpPr/>
          <p:nvPr/>
        </p:nvSpPr>
        <p:spPr>
          <a:xfrm>
            <a:off x="6071616" y="5678424"/>
            <a:ext cx="237744" cy="237744"/>
          </a:xfrm>
          <a:prstGeom prst="ellipse">
            <a:avLst/>
          </a:prstGeom>
          <a:solidFill>
            <a:srgbClr val="8B5CF6"/>
          </a:solidFill>
          <a:ln/>
        </p:spPr>
        <p:txBody>
          <a:bodyPr/>
          <a:lstStyle/>
          <a:p>
            <a:endParaRPr lang="en-US"/>
          </a:p>
        </p:txBody>
      </p:sp>
      <p:sp>
        <p:nvSpPr>
          <p:cNvPr id="18" name="Text 15"/>
          <p:cNvSpPr/>
          <p:nvPr/>
        </p:nvSpPr>
        <p:spPr>
          <a:xfrm>
            <a:off x="6071616" y="5678424"/>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9" name="Text 16"/>
          <p:cNvSpPr/>
          <p:nvPr/>
        </p:nvSpPr>
        <p:spPr>
          <a:xfrm>
            <a:off x="6382512" y="5623560"/>
            <a:ext cx="4892040" cy="329184"/>
          </a:xfrm>
          <a:prstGeom prst="rect">
            <a:avLst/>
          </a:prstGeom>
          <a:noFill/>
          <a:ln/>
        </p:spPr>
        <p:txBody>
          <a:bodyPr wrap="square" lIns="0" tIns="0" rIns="0" bIns="0" rtlCol="0" anchor="ctr"/>
          <a:lstStyle/>
          <a:p>
            <a:pPr marL="0" indent="0">
              <a:buNone/>
            </a:pPr>
            <a:r>
              <a:rPr lang="en-US" sz="1250" dirty="0">
                <a:solidFill>
                  <a:srgbClr val="D1D5DB"/>
                </a:solidFill>
                <a:latin typeface="Arial" pitchFamily="34" charset="0"/>
                <a:ea typeface="Arial" pitchFamily="34" charset="-122"/>
                <a:cs typeface="Arial" pitchFamily="34" charset="-120"/>
              </a:rPr>
              <a:t>KPIs globales: títulos, puntaje, plataformas, géneros</a:t>
            </a:r>
            <a:endParaRPr lang="en-US" sz="1250" dirty="0"/>
          </a:p>
        </p:txBody>
      </p:sp>
      <p:sp>
        <p:nvSpPr>
          <p:cNvPr id="20" name="Text 17"/>
          <p:cNvSpPr/>
          <p:nvPr/>
        </p:nvSpPr>
        <p:spPr>
          <a:xfrm>
            <a:off x="548640" y="6044184"/>
            <a:ext cx="11064240" cy="457200"/>
          </a:xfrm>
          <a:prstGeom prst="rect">
            <a:avLst/>
          </a:prstGeom>
          <a:noFill/>
          <a:ln/>
        </p:spPr>
        <p:txBody>
          <a:bodyPr wrap="square" lIns="0" tIns="0" rIns="0" bIns="0" rtlCol="0" anchor="ctr"/>
          <a:lstStyle/>
          <a:p>
            <a:pPr marL="0" indent="0">
              <a:buNone/>
            </a:pPr>
            <a:r>
              <a:rPr lang="en-US" sz="1250" dirty="0">
                <a:solidFill>
                  <a:srgbClr val="9CA3AF"/>
                </a:solidFill>
                <a:latin typeface="Arial" pitchFamily="34" charset="0"/>
                <a:ea typeface="Arial" pitchFamily="34" charset="-122"/>
                <a:cs typeface="Arial" pitchFamily="34" charset="-120"/>
              </a:rPr>
              <a:t>Detrás: 800 títulos, muestra representativa de 5.000 registros con esquema tipo Kaggle 'Netflix Movies and TV Shows', procesados en notebooks propios.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12"/>
        </a:solidFill>
        <a:effectLst/>
      </p:bgPr>
    </p:bg>
    <p:spTree>
      <p:nvGrpSpPr>
        <p:cNvPr id="1" name=""/>
        <p:cNvGrpSpPr/>
        <p:nvPr/>
      </p:nvGrpSpPr>
      <p:grpSpPr>
        <a:xfrm>
          <a:off x="0" y="0"/>
          <a:ext cx="0" cy="0"/>
          <a:chOff x="0" y="0"/>
          <a:chExt cx="0" cy="0"/>
        </a:xfrm>
      </p:grpSpPr>
      <p:sp>
        <p:nvSpPr>
          <p:cNvPr id="2" name="Text 0"/>
          <p:cNvSpPr/>
          <p:nvPr/>
        </p:nvSpPr>
        <p:spPr>
          <a:xfrm>
            <a:off x="457200" y="256032"/>
            <a:ext cx="2743200" cy="36576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STREAM</a:t>
            </a:r>
            <a:r>
              <a:rPr lang="en-US" sz="1400" b="1" kern="0" spc="100" dirty="0">
                <a:solidFill>
                  <a:srgbClr val="E63946"/>
                </a:solidFill>
                <a:latin typeface="Arial" pitchFamily="34" charset="0"/>
                <a:ea typeface="Arial" pitchFamily="34" charset="-122"/>
                <a:cs typeface="Arial" pitchFamily="34" charset="-120"/>
              </a:rPr>
              <a:t>AI</a:t>
            </a:r>
            <a:endParaRPr lang="en-US" sz="1400" dirty="0"/>
          </a:p>
        </p:txBody>
      </p:sp>
      <p:sp>
        <p:nvSpPr>
          <p:cNvPr id="3" name="Text 1"/>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rial" pitchFamily="34" charset="0"/>
                <a:ea typeface="Arial" pitchFamily="34" charset="-122"/>
                <a:cs typeface="Arial" pitchFamily="34" charset="-120"/>
              </a:rPr>
              <a:t>5</a:t>
            </a:r>
            <a:endParaRPr lang="en-US" sz="1000" dirty="0"/>
          </a:p>
        </p:txBody>
      </p:sp>
      <p:sp>
        <p:nvSpPr>
          <p:cNvPr id="4" name="Text 2"/>
          <p:cNvSpPr/>
          <p:nvPr/>
        </p:nvSpPr>
        <p:spPr>
          <a:xfrm>
            <a:off x="457200" y="685800"/>
            <a:ext cx="9144000" cy="274320"/>
          </a:xfrm>
          <a:prstGeom prst="rect">
            <a:avLst/>
          </a:prstGeom>
          <a:noFill/>
          <a:ln/>
        </p:spPr>
        <p:txBody>
          <a:bodyPr wrap="square" lIns="0" tIns="0" rIns="0" bIns="0" rtlCol="0" anchor="ctr"/>
          <a:lstStyle/>
          <a:p>
            <a:pPr marL="0" indent="0">
              <a:buNone/>
            </a:pPr>
            <a:r>
              <a:rPr lang="en-US" sz="1200" b="1" kern="0" spc="200" dirty="0">
                <a:solidFill>
                  <a:srgbClr val="8B5CF6"/>
                </a:solidFill>
                <a:latin typeface="Arial" pitchFamily="34" charset="0"/>
                <a:ea typeface="Arial" pitchFamily="34" charset="-122"/>
                <a:cs typeface="Arial" pitchFamily="34" charset="-120"/>
              </a:rPr>
              <a:t>03 · RECORRIDO DEL USUARIO</a:t>
            </a:r>
            <a:endParaRPr lang="en-US" sz="1200" dirty="0"/>
          </a:p>
        </p:txBody>
      </p:sp>
      <p:sp>
        <p:nvSpPr>
          <p:cNvPr id="5" name="Text 3"/>
          <p:cNvSpPr/>
          <p:nvPr/>
        </p:nvSpPr>
        <p:spPr>
          <a:xfrm>
            <a:off x="457200" y="941832"/>
            <a:ext cx="10515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Dashboard de análisis</a:t>
            </a:r>
            <a:endParaRPr lang="en-US" sz="2800" dirty="0"/>
          </a:p>
        </p:txBody>
      </p:sp>
      <p:sp>
        <p:nvSpPr>
          <p:cNvPr id="6" name="Shape 4"/>
          <p:cNvSpPr/>
          <p:nvPr/>
        </p:nvSpPr>
        <p:spPr>
          <a:xfrm>
            <a:off x="1421637" y="1426464"/>
            <a:ext cx="9348422" cy="4087368"/>
          </a:xfrm>
          <a:prstGeom prst="roundRect">
            <a:avLst>
              <a:gd name="adj" fmla="val 1342"/>
            </a:avLst>
          </a:prstGeom>
          <a:solidFill>
            <a:srgbClr val="000000"/>
          </a:solidFill>
          <a:ln w="12700">
            <a:solidFill>
              <a:srgbClr val="2A2A3A"/>
            </a:solidFill>
            <a:prstDash val="solid"/>
          </a:ln>
          <a:effectLst>
            <a:outerShdw blurRad="127000" dist="38100" dir="5400000" algn="bl" rotWithShape="0">
              <a:srgbClr val="000000">
                <a:alpha val="35000"/>
              </a:srgbClr>
            </a:outerShdw>
          </a:effectLst>
        </p:spPr>
        <p:txBody>
          <a:bodyPr/>
          <a:lstStyle/>
          <a:p>
            <a:endParaRPr lang="en-US"/>
          </a:p>
        </p:txBody>
      </p:sp>
      <p:pic>
        <p:nvPicPr>
          <p:cNvPr id="7" name="Image 0" descr="/home/claude/imgs/shot3_dashboard.png"/>
          <p:cNvPicPr>
            <a:picLocks noChangeAspect="1"/>
          </p:cNvPicPr>
          <p:nvPr/>
        </p:nvPicPr>
        <p:blipFill>
          <a:blip r:embed="rId3"/>
          <a:stretch>
            <a:fillRect/>
          </a:stretch>
        </p:blipFill>
        <p:spPr>
          <a:xfrm>
            <a:off x="1476501" y="1481328"/>
            <a:ext cx="9238694" cy="3977640"/>
          </a:xfrm>
          <a:prstGeom prst="rect">
            <a:avLst/>
          </a:prstGeom>
        </p:spPr>
      </p:pic>
      <p:sp>
        <p:nvSpPr>
          <p:cNvPr id="8" name="Shape 5"/>
          <p:cNvSpPr/>
          <p:nvPr/>
        </p:nvSpPr>
        <p:spPr>
          <a:xfrm>
            <a:off x="2723724" y="3132049"/>
            <a:ext cx="6744247" cy="795528"/>
          </a:xfrm>
          <a:prstGeom prst="roundRect">
            <a:avLst>
              <a:gd name="adj" fmla="val 6897"/>
            </a:avLst>
          </a:prstGeom>
          <a:ln w="28575">
            <a:solidFill>
              <a:srgbClr val="8B5CF6"/>
            </a:solidFill>
            <a:prstDash val="solid"/>
          </a:ln>
        </p:spPr>
        <p:txBody>
          <a:bodyPr/>
          <a:lstStyle/>
          <a:p>
            <a:endParaRPr lang="en-US"/>
          </a:p>
        </p:txBody>
      </p:sp>
      <p:sp>
        <p:nvSpPr>
          <p:cNvPr id="9" name="Shape 6"/>
          <p:cNvSpPr/>
          <p:nvPr/>
        </p:nvSpPr>
        <p:spPr>
          <a:xfrm>
            <a:off x="2577420" y="2985745"/>
            <a:ext cx="292608" cy="292608"/>
          </a:xfrm>
          <a:prstGeom prst="ellipse">
            <a:avLst/>
          </a:prstGeom>
          <a:solidFill>
            <a:srgbClr val="8B5CF6"/>
          </a:solidFill>
          <a:ln w="19050">
            <a:solidFill>
              <a:srgbClr val="0A0A12"/>
            </a:solidFill>
            <a:prstDash val="solid"/>
          </a:ln>
          <a:effectLst>
            <a:outerShdw blurRad="127000" dist="38100" dir="5400000" algn="bl" rotWithShape="0">
              <a:srgbClr val="000000">
                <a:alpha val="35000"/>
              </a:srgbClr>
            </a:outerShdw>
          </a:effectLst>
        </p:spPr>
        <p:txBody>
          <a:bodyPr/>
          <a:lstStyle/>
          <a:p>
            <a:endParaRPr lang="en-US"/>
          </a:p>
        </p:txBody>
      </p:sp>
      <p:sp>
        <p:nvSpPr>
          <p:cNvPr id="10" name="Text 7"/>
          <p:cNvSpPr/>
          <p:nvPr/>
        </p:nvSpPr>
        <p:spPr>
          <a:xfrm>
            <a:off x="2577420" y="2985745"/>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Shape 8"/>
          <p:cNvSpPr/>
          <p:nvPr/>
        </p:nvSpPr>
        <p:spPr>
          <a:xfrm>
            <a:off x="2723724" y="4126459"/>
            <a:ext cx="4342186" cy="1312621"/>
          </a:xfrm>
          <a:prstGeom prst="roundRect">
            <a:avLst>
              <a:gd name="adj" fmla="val 4180"/>
            </a:avLst>
          </a:prstGeom>
          <a:ln w="28575">
            <a:solidFill>
              <a:srgbClr val="3B82F6"/>
            </a:solidFill>
            <a:prstDash val="solid"/>
          </a:ln>
        </p:spPr>
        <p:txBody>
          <a:bodyPr/>
          <a:lstStyle/>
          <a:p>
            <a:endParaRPr lang="en-US"/>
          </a:p>
        </p:txBody>
      </p:sp>
      <p:sp>
        <p:nvSpPr>
          <p:cNvPr id="12" name="Shape 9"/>
          <p:cNvSpPr/>
          <p:nvPr/>
        </p:nvSpPr>
        <p:spPr>
          <a:xfrm>
            <a:off x="2577420" y="3980155"/>
            <a:ext cx="292608" cy="292608"/>
          </a:xfrm>
          <a:prstGeom prst="ellipse">
            <a:avLst/>
          </a:prstGeom>
          <a:solidFill>
            <a:srgbClr val="3B82F6"/>
          </a:solidFill>
          <a:ln w="19050">
            <a:solidFill>
              <a:srgbClr val="0A0A12"/>
            </a:solidFill>
            <a:prstDash val="solid"/>
          </a:ln>
          <a:effectLst>
            <a:outerShdw blurRad="127000" dist="38100" dir="5400000" algn="bl" rotWithShape="0">
              <a:srgbClr val="000000">
                <a:alpha val="35000"/>
              </a:srgbClr>
            </a:outerShdw>
          </a:effectLst>
        </p:spPr>
        <p:txBody>
          <a:bodyPr/>
          <a:lstStyle/>
          <a:p>
            <a:endParaRPr lang="en-US"/>
          </a:p>
        </p:txBody>
      </p:sp>
      <p:sp>
        <p:nvSpPr>
          <p:cNvPr id="13" name="Text 10"/>
          <p:cNvSpPr/>
          <p:nvPr/>
        </p:nvSpPr>
        <p:spPr>
          <a:xfrm>
            <a:off x="2577420" y="3980155"/>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Shape 11"/>
          <p:cNvSpPr/>
          <p:nvPr/>
        </p:nvSpPr>
        <p:spPr>
          <a:xfrm>
            <a:off x="548640" y="5678424"/>
            <a:ext cx="237744" cy="237744"/>
          </a:xfrm>
          <a:prstGeom prst="ellipse">
            <a:avLst/>
          </a:prstGeom>
          <a:solidFill>
            <a:srgbClr val="8B5CF6"/>
          </a:solidFill>
          <a:ln/>
        </p:spPr>
        <p:txBody>
          <a:bodyPr/>
          <a:lstStyle/>
          <a:p>
            <a:endParaRPr lang="en-US"/>
          </a:p>
        </p:txBody>
      </p:sp>
      <p:sp>
        <p:nvSpPr>
          <p:cNvPr id="15" name="Text 12"/>
          <p:cNvSpPr/>
          <p:nvPr/>
        </p:nvSpPr>
        <p:spPr>
          <a:xfrm>
            <a:off x="548640" y="5678424"/>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6" name="Text 13"/>
          <p:cNvSpPr/>
          <p:nvPr/>
        </p:nvSpPr>
        <p:spPr>
          <a:xfrm>
            <a:off x="859536" y="5623560"/>
            <a:ext cx="4892040" cy="329184"/>
          </a:xfrm>
          <a:prstGeom prst="rect">
            <a:avLst/>
          </a:prstGeom>
          <a:noFill/>
          <a:ln/>
        </p:spPr>
        <p:txBody>
          <a:bodyPr wrap="square" lIns="0" tIns="0" rIns="0" bIns="0" rtlCol="0" anchor="ctr"/>
          <a:lstStyle/>
          <a:p>
            <a:pPr marL="0" indent="0">
              <a:buNone/>
            </a:pPr>
            <a:r>
              <a:rPr lang="en-US" sz="1250" dirty="0">
                <a:solidFill>
                  <a:srgbClr val="D1D5DB"/>
                </a:solidFill>
                <a:latin typeface="Arial" pitchFamily="34" charset="0"/>
                <a:ea typeface="Arial" pitchFamily="34" charset="-122"/>
                <a:cs typeface="Arial" pitchFamily="34" charset="-120"/>
              </a:rPr>
              <a:t>Tarjetas KPI: total, puntaje, género y plataforma líder</a:t>
            </a:r>
            <a:endParaRPr lang="en-US" sz="1250" dirty="0"/>
          </a:p>
        </p:txBody>
      </p:sp>
      <p:sp>
        <p:nvSpPr>
          <p:cNvPr id="17" name="Shape 14"/>
          <p:cNvSpPr/>
          <p:nvPr/>
        </p:nvSpPr>
        <p:spPr>
          <a:xfrm>
            <a:off x="6071616" y="5678424"/>
            <a:ext cx="237744" cy="237744"/>
          </a:xfrm>
          <a:prstGeom prst="ellipse">
            <a:avLst/>
          </a:prstGeom>
          <a:solidFill>
            <a:srgbClr val="3B82F6"/>
          </a:solidFill>
          <a:ln/>
        </p:spPr>
        <p:txBody>
          <a:bodyPr/>
          <a:lstStyle/>
          <a:p>
            <a:endParaRPr lang="en-US"/>
          </a:p>
        </p:txBody>
      </p:sp>
      <p:sp>
        <p:nvSpPr>
          <p:cNvPr id="18" name="Text 15"/>
          <p:cNvSpPr/>
          <p:nvPr/>
        </p:nvSpPr>
        <p:spPr>
          <a:xfrm>
            <a:off x="6071616" y="5678424"/>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9" name="Text 16"/>
          <p:cNvSpPr/>
          <p:nvPr/>
        </p:nvSpPr>
        <p:spPr>
          <a:xfrm>
            <a:off x="6382512" y="5623560"/>
            <a:ext cx="4892040" cy="329184"/>
          </a:xfrm>
          <a:prstGeom prst="rect">
            <a:avLst/>
          </a:prstGeom>
          <a:noFill/>
          <a:ln/>
        </p:spPr>
        <p:txBody>
          <a:bodyPr wrap="square" lIns="0" tIns="0" rIns="0" bIns="0" rtlCol="0" anchor="ctr"/>
          <a:lstStyle/>
          <a:p>
            <a:pPr marL="0" indent="0">
              <a:buNone/>
            </a:pPr>
            <a:r>
              <a:rPr lang="en-US" sz="1250" dirty="0">
                <a:solidFill>
                  <a:srgbClr val="D1D5DB"/>
                </a:solidFill>
                <a:latin typeface="Arial" pitchFamily="34" charset="0"/>
                <a:ea typeface="Arial" pitchFamily="34" charset="-122"/>
                <a:cs typeface="Arial" pitchFamily="34" charset="-120"/>
              </a:rPr>
              <a:t>Gráficos: títulos por plataforma y por género</a:t>
            </a:r>
            <a:endParaRPr lang="en-US" sz="1250" dirty="0"/>
          </a:p>
        </p:txBody>
      </p:sp>
      <p:sp>
        <p:nvSpPr>
          <p:cNvPr id="20" name="Text 17"/>
          <p:cNvSpPr/>
          <p:nvPr/>
        </p:nvSpPr>
        <p:spPr>
          <a:xfrm>
            <a:off x="548640" y="6044184"/>
            <a:ext cx="11064240" cy="457200"/>
          </a:xfrm>
          <a:prstGeom prst="rect">
            <a:avLst/>
          </a:prstGeom>
          <a:noFill/>
          <a:ln/>
        </p:spPr>
        <p:txBody>
          <a:bodyPr wrap="square" lIns="0" tIns="0" rIns="0" bIns="0" rtlCol="0" anchor="ctr"/>
          <a:lstStyle/>
          <a:p>
            <a:pPr marL="0" indent="0">
              <a:buNone/>
            </a:pPr>
            <a:r>
              <a:rPr lang="en-US" sz="1250" dirty="0">
                <a:solidFill>
                  <a:srgbClr val="9CA3AF"/>
                </a:solidFill>
                <a:latin typeface="Arial" pitchFamily="34" charset="0"/>
                <a:ea typeface="Arial" pitchFamily="34" charset="-122"/>
                <a:cs typeface="Arial" pitchFamily="34" charset="-120"/>
              </a:rPr>
              <a:t>Todo el dashboard se calcula sobre el </a:t>
            </a:r>
            <a:r>
              <a:rPr lang="en-US" sz="1250" dirty="0" err="1">
                <a:solidFill>
                  <a:srgbClr val="9CA3AF"/>
                </a:solidFill>
                <a:latin typeface="Arial" pitchFamily="34" charset="0"/>
                <a:ea typeface="Arial" pitchFamily="34" charset="-122"/>
                <a:cs typeface="Arial" pitchFamily="34" charset="-120"/>
              </a:rPr>
              <a:t>mismo</a:t>
            </a:r>
            <a:r>
              <a:rPr lang="en-US" sz="1250" dirty="0">
                <a:solidFill>
                  <a:srgbClr val="9CA3AF"/>
                </a:solidFill>
                <a:latin typeface="Arial" pitchFamily="34" charset="0"/>
                <a:ea typeface="Arial" pitchFamily="34" charset="-122"/>
                <a:cs typeface="Arial" pitchFamily="34" charset="-120"/>
              </a:rPr>
              <a:t> dataset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12"/>
        </a:solidFill>
        <a:effectLst/>
      </p:bgPr>
    </p:bg>
    <p:spTree>
      <p:nvGrpSpPr>
        <p:cNvPr id="1" name=""/>
        <p:cNvGrpSpPr/>
        <p:nvPr/>
      </p:nvGrpSpPr>
      <p:grpSpPr>
        <a:xfrm>
          <a:off x="0" y="0"/>
          <a:ext cx="0" cy="0"/>
          <a:chOff x="0" y="0"/>
          <a:chExt cx="0" cy="0"/>
        </a:xfrm>
      </p:grpSpPr>
      <p:sp>
        <p:nvSpPr>
          <p:cNvPr id="2" name="Text 0"/>
          <p:cNvSpPr/>
          <p:nvPr/>
        </p:nvSpPr>
        <p:spPr>
          <a:xfrm>
            <a:off x="457200" y="256032"/>
            <a:ext cx="2743200" cy="36576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STREAM</a:t>
            </a:r>
            <a:r>
              <a:rPr lang="en-US" sz="1400" b="1" kern="0" spc="100" dirty="0">
                <a:solidFill>
                  <a:srgbClr val="E63946"/>
                </a:solidFill>
                <a:latin typeface="Arial" pitchFamily="34" charset="0"/>
                <a:ea typeface="Arial" pitchFamily="34" charset="-122"/>
                <a:cs typeface="Arial" pitchFamily="34" charset="-120"/>
              </a:rPr>
              <a:t>AI</a:t>
            </a:r>
            <a:endParaRPr lang="en-US" sz="1400" dirty="0"/>
          </a:p>
        </p:txBody>
      </p:sp>
      <p:sp>
        <p:nvSpPr>
          <p:cNvPr id="3" name="Text 1"/>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rial" pitchFamily="34" charset="0"/>
                <a:ea typeface="Arial" pitchFamily="34" charset="-122"/>
                <a:cs typeface="Arial" pitchFamily="34" charset="-120"/>
              </a:rPr>
              <a:t>6</a:t>
            </a:r>
            <a:endParaRPr lang="en-US" sz="1000" dirty="0"/>
          </a:p>
        </p:txBody>
      </p:sp>
      <p:sp>
        <p:nvSpPr>
          <p:cNvPr id="4" name="Text 2"/>
          <p:cNvSpPr/>
          <p:nvPr/>
        </p:nvSpPr>
        <p:spPr>
          <a:xfrm>
            <a:off x="457200" y="685800"/>
            <a:ext cx="9144000" cy="274320"/>
          </a:xfrm>
          <a:prstGeom prst="rect">
            <a:avLst/>
          </a:prstGeom>
          <a:noFill/>
          <a:ln/>
        </p:spPr>
        <p:txBody>
          <a:bodyPr wrap="square" lIns="0" tIns="0" rIns="0" bIns="0" rtlCol="0" anchor="ctr"/>
          <a:lstStyle/>
          <a:p>
            <a:pPr marL="0" indent="0">
              <a:buNone/>
            </a:pPr>
            <a:r>
              <a:rPr lang="en-US" sz="1200" b="1" kern="0" spc="200" dirty="0">
                <a:solidFill>
                  <a:srgbClr val="8B5CF6"/>
                </a:solidFill>
                <a:latin typeface="Arial" pitchFamily="34" charset="0"/>
                <a:ea typeface="Arial" pitchFamily="34" charset="-122"/>
                <a:cs typeface="Arial" pitchFamily="34" charset="-120"/>
              </a:rPr>
              <a:t>04 · RECORRIDO DEL USUARIO</a:t>
            </a:r>
            <a:endParaRPr lang="en-US" sz="1200" dirty="0"/>
          </a:p>
        </p:txBody>
      </p:sp>
      <p:sp>
        <p:nvSpPr>
          <p:cNvPr id="5" name="Text 3"/>
          <p:cNvSpPr/>
          <p:nvPr/>
        </p:nvSpPr>
        <p:spPr>
          <a:xfrm>
            <a:off x="457200" y="941832"/>
            <a:ext cx="10515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Motor de recomendación</a:t>
            </a:r>
            <a:endParaRPr lang="en-US" sz="2800" dirty="0"/>
          </a:p>
        </p:txBody>
      </p:sp>
      <p:sp>
        <p:nvSpPr>
          <p:cNvPr id="6" name="Shape 4"/>
          <p:cNvSpPr/>
          <p:nvPr/>
        </p:nvSpPr>
        <p:spPr>
          <a:xfrm>
            <a:off x="1564996" y="1426464"/>
            <a:ext cx="9061704" cy="4087368"/>
          </a:xfrm>
          <a:prstGeom prst="roundRect">
            <a:avLst>
              <a:gd name="adj" fmla="val 1342"/>
            </a:avLst>
          </a:prstGeom>
          <a:solidFill>
            <a:srgbClr val="000000"/>
          </a:solidFill>
          <a:ln w="12700">
            <a:solidFill>
              <a:srgbClr val="2A2A3A"/>
            </a:solidFill>
            <a:prstDash val="solid"/>
          </a:ln>
          <a:effectLst>
            <a:outerShdw blurRad="127000" dist="38100" dir="5400000" algn="bl" rotWithShape="0">
              <a:srgbClr val="000000">
                <a:alpha val="35000"/>
              </a:srgbClr>
            </a:outerShdw>
          </a:effectLst>
        </p:spPr>
        <p:txBody>
          <a:bodyPr/>
          <a:lstStyle/>
          <a:p>
            <a:endParaRPr lang="en-US"/>
          </a:p>
        </p:txBody>
      </p:sp>
      <p:pic>
        <p:nvPicPr>
          <p:cNvPr id="7" name="Image 0" descr="/home/claude/imgs/shot4_recomendacion.png"/>
          <p:cNvPicPr>
            <a:picLocks noChangeAspect="1"/>
          </p:cNvPicPr>
          <p:nvPr/>
        </p:nvPicPr>
        <p:blipFill>
          <a:blip r:embed="rId3"/>
          <a:stretch>
            <a:fillRect/>
          </a:stretch>
        </p:blipFill>
        <p:spPr>
          <a:xfrm>
            <a:off x="1619860" y="1481328"/>
            <a:ext cx="8951976" cy="3977640"/>
          </a:xfrm>
          <a:prstGeom prst="rect">
            <a:avLst/>
          </a:prstGeom>
        </p:spPr>
      </p:pic>
      <p:sp>
        <p:nvSpPr>
          <p:cNvPr id="8" name="Shape 5"/>
          <p:cNvSpPr/>
          <p:nvPr/>
        </p:nvSpPr>
        <p:spPr>
          <a:xfrm>
            <a:off x="2828376" y="2575179"/>
            <a:ext cx="5774025" cy="576758"/>
          </a:xfrm>
          <a:prstGeom prst="roundRect">
            <a:avLst>
              <a:gd name="adj" fmla="val 9512"/>
            </a:avLst>
          </a:prstGeom>
          <a:ln w="28575">
            <a:solidFill>
              <a:srgbClr val="8B5CF6"/>
            </a:solidFill>
            <a:prstDash val="solid"/>
          </a:ln>
        </p:spPr>
        <p:txBody>
          <a:bodyPr/>
          <a:lstStyle/>
          <a:p>
            <a:endParaRPr lang="en-US"/>
          </a:p>
        </p:txBody>
      </p:sp>
      <p:sp>
        <p:nvSpPr>
          <p:cNvPr id="9" name="Shape 6"/>
          <p:cNvSpPr/>
          <p:nvPr/>
        </p:nvSpPr>
        <p:spPr>
          <a:xfrm>
            <a:off x="2682072" y="2428875"/>
            <a:ext cx="292608" cy="292608"/>
          </a:xfrm>
          <a:prstGeom prst="ellipse">
            <a:avLst/>
          </a:prstGeom>
          <a:solidFill>
            <a:srgbClr val="8B5CF6"/>
          </a:solidFill>
          <a:ln w="19050">
            <a:solidFill>
              <a:srgbClr val="0A0A12"/>
            </a:solidFill>
            <a:prstDash val="solid"/>
          </a:ln>
          <a:effectLst>
            <a:outerShdw blurRad="127000" dist="38100" dir="5400000" algn="bl" rotWithShape="0">
              <a:srgbClr val="000000">
                <a:alpha val="35000"/>
              </a:srgbClr>
            </a:outerShdw>
          </a:effectLst>
        </p:spPr>
        <p:txBody>
          <a:bodyPr/>
          <a:lstStyle/>
          <a:p>
            <a:endParaRPr lang="en-US"/>
          </a:p>
        </p:txBody>
      </p:sp>
      <p:sp>
        <p:nvSpPr>
          <p:cNvPr id="10" name="Text 7"/>
          <p:cNvSpPr/>
          <p:nvPr/>
        </p:nvSpPr>
        <p:spPr>
          <a:xfrm>
            <a:off x="2682072" y="2428875"/>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Shape 8"/>
          <p:cNvSpPr/>
          <p:nvPr/>
        </p:nvSpPr>
        <p:spPr>
          <a:xfrm>
            <a:off x="2828376" y="3370707"/>
            <a:ext cx="6534942" cy="596646"/>
          </a:xfrm>
          <a:prstGeom prst="roundRect">
            <a:avLst>
              <a:gd name="adj" fmla="val 9195"/>
            </a:avLst>
          </a:prstGeom>
          <a:ln w="28575">
            <a:solidFill>
              <a:srgbClr val="3B82F6"/>
            </a:solidFill>
            <a:prstDash val="solid"/>
          </a:ln>
        </p:spPr>
        <p:txBody>
          <a:bodyPr/>
          <a:lstStyle/>
          <a:p>
            <a:endParaRPr lang="en-US"/>
          </a:p>
        </p:txBody>
      </p:sp>
      <p:sp>
        <p:nvSpPr>
          <p:cNvPr id="12" name="Shape 9"/>
          <p:cNvSpPr/>
          <p:nvPr/>
        </p:nvSpPr>
        <p:spPr>
          <a:xfrm>
            <a:off x="2682072" y="3224403"/>
            <a:ext cx="292608" cy="292608"/>
          </a:xfrm>
          <a:prstGeom prst="ellipse">
            <a:avLst/>
          </a:prstGeom>
          <a:solidFill>
            <a:srgbClr val="3B82F6"/>
          </a:solidFill>
          <a:ln w="19050">
            <a:solidFill>
              <a:srgbClr val="0A0A12"/>
            </a:solidFill>
            <a:prstDash val="solid"/>
          </a:ln>
          <a:effectLst>
            <a:outerShdw blurRad="127000" dist="38100" dir="5400000" algn="bl" rotWithShape="0">
              <a:srgbClr val="000000">
                <a:alpha val="35000"/>
              </a:srgbClr>
            </a:outerShdw>
          </a:effectLst>
        </p:spPr>
        <p:txBody>
          <a:bodyPr/>
          <a:lstStyle/>
          <a:p>
            <a:endParaRPr lang="en-US"/>
          </a:p>
        </p:txBody>
      </p:sp>
      <p:sp>
        <p:nvSpPr>
          <p:cNvPr id="13" name="Text 10"/>
          <p:cNvSpPr/>
          <p:nvPr/>
        </p:nvSpPr>
        <p:spPr>
          <a:xfrm>
            <a:off x="2682072" y="3224403"/>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Shape 11"/>
          <p:cNvSpPr/>
          <p:nvPr/>
        </p:nvSpPr>
        <p:spPr>
          <a:xfrm>
            <a:off x="548640" y="5843016"/>
            <a:ext cx="237744" cy="237744"/>
          </a:xfrm>
          <a:prstGeom prst="ellipse">
            <a:avLst/>
          </a:prstGeom>
          <a:solidFill>
            <a:srgbClr val="8B5CF6"/>
          </a:solidFill>
          <a:ln/>
        </p:spPr>
        <p:txBody>
          <a:bodyPr/>
          <a:lstStyle/>
          <a:p>
            <a:endParaRPr lang="en-US"/>
          </a:p>
        </p:txBody>
      </p:sp>
      <p:sp>
        <p:nvSpPr>
          <p:cNvPr id="15" name="Text 12"/>
          <p:cNvSpPr/>
          <p:nvPr/>
        </p:nvSpPr>
        <p:spPr>
          <a:xfrm>
            <a:off x="548640" y="5843016"/>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6" name="Text 13"/>
          <p:cNvSpPr/>
          <p:nvPr/>
        </p:nvSpPr>
        <p:spPr>
          <a:xfrm>
            <a:off x="859536" y="5788152"/>
            <a:ext cx="4892040" cy="329184"/>
          </a:xfrm>
          <a:prstGeom prst="rect">
            <a:avLst/>
          </a:prstGeom>
          <a:noFill/>
          <a:ln/>
        </p:spPr>
        <p:txBody>
          <a:bodyPr wrap="square" lIns="0" tIns="0" rIns="0" bIns="0" rtlCol="0" anchor="ctr"/>
          <a:lstStyle/>
          <a:p>
            <a:pPr marL="0" indent="0">
              <a:buNone/>
            </a:pPr>
            <a:r>
              <a:rPr lang="en-US" sz="1250" dirty="0">
                <a:solidFill>
                  <a:srgbClr val="D1D5DB"/>
                </a:solidFill>
                <a:latin typeface="Arial" pitchFamily="34" charset="0"/>
                <a:ea typeface="Arial" pitchFamily="34" charset="-122"/>
                <a:cs typeface="Arial" pitchFamily="34" charset="-120"/>
              </a:rPr>
              <a:t>Búsqueda por similitud de contenido (TF-IDF / embeddings)</a:t>
            </a:r>
            <a:endParaRPr lang="en-US" sz="1250" dirty="0"/>
          </a:p>
        </p:txBody>
      </p:sp>
      <p:sp>
        <p:nvSpPr>
          <p:cNvPr id="17" name="Shape 14"/>
          <p:cNvSpPr/>
          <p:nvPr/>
        </p:nvSpPr>
        <p:spPr>
          <a:xfrm>
            <a:off x="6071616" y="5843016"/>
            <a:ext cx="237744" cy="237744"/>
          </a:xfrm>
          <a:prstGeom prst="ellipse">
            <a:avLst/>
          </a:prstGeom>
          <a:solidFill>
            <a:srgbClr val="3B82F6"/>
          </a:solidFill>
          <a:ln/>
        </p:spPr>
        <p:txBody>
          <a:bodyPr/>
          <a:lstStyle/>
          <a:p>
            <a:endParaRPr lang="en-US"/>
          </a:p>
        </p:txBody>
      </p:sp>
      <p:sp>
        <p:nvSpPr>
          <p:cNvPr id="18" name="Text 15"/>
          <p:cNvSpPr/>
          <p:nvPr/>
        </p:nvSpPr>
        <p:spPr>
          <a:xfrm>
            <a:off x="6071616" y="5843016"/>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9" name="Text 16"/>
          <p:cNvSpPr/>
          <p:nvPr/>
        </p:nvSpPr>
        <p:spPr>
          <a:xfrm>
            <a:off x="6440426" y="5788152"/>
            <a:ext cx="4892040" cy="329184"/>
          </a:xfrm>
          <a:prstGeom prst="rect">
            <a:avLst/>
          </a:prstGeom>
          <a:noFill/>
          <a:ln/>
        </p:spPr>
        <p:txBody>
          <a:bodyPr wrap="square" lIns="0" tIns="0" rIns="0" bIns="0" rtlCol="0" anchor="ctr"/>
          <a:lstStyle/>
          <a:p>
            <a:pPr marL="0" indent="0">
              <a:buNone/>
            </a:pPr>
            <a:r>
              <a:rPr lang="en-US" sz="1250" dirty="0">
                <a:solidFill>
                  <a:srgbClr val="D1D5DB"/>
                </a:solidFill>
                <a:latin typeface="Arial" pitchFamily="34" charset="0"/>
                <a:ea typeface="Arial" pitchFamily="34" charset="-122"/>
                <a:cs typeface="Arial" pitchFamily="34" charset="-120"/>
              </a:rPr>
              <a:t>Filtros combinables: género, plataforma, tipo, puntaje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12"/>
        </a:solidFill>
        <a:effectLst/>
      </p:bgPr>
    </p:bg>
    <p:spTree>
      <p:nvGrpSpPr>
        <p:cNvPr id="1" name=""/>
        <p:cNvGrpSpPr/>
        <p:nvPr/>
      </p:nvGrpSpPr>
      <p:grpSpPr>
        <a:xfrm>
          <a:off x="0" y="0"/>
          <a:ext cx="0" cy="0"/>
          <a:chOff x="0" y="0"/>
          <a:chExt cx="0" cy="0"/>
        </a:xfrm>
      </p:grpSpPr>
      <p:sp>
        <p:nvSpPr>
          <p:cNvPr id="2" name="Text 0"/>
          <p:cNvSpPr/>
          <p:nvPr/>
        </p:nvSpPr>
        <p:spPr>
          <a:xfrm>
            <a:off x="457200" y="256032"/>
            <a:ext cx="2743200" cy="36576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STREAM</a:t>
            </a:r>
            <a:r>
              <a:rPr lang="en-US" sz="1400" b="1" kern="0" spc="100" dirty="0">
                <a:solidFill>
                  <a:srgbClr val="E63946"/>
                </a:solidFill>
                <a:latin typeface="Arial" pitchFamily="34" charset="0"/>
                <a:ea typeface="Arial" pitchFamily="34" charset="-122"/>
                <a:cs typeface="Arial" pitchFamily="34" charset="-120"/>
              </a:rPr>
              <a:t>AI</a:t>
            </a:r>
            <a:endParaRPr lang="en-US" sz="1400" dirty="0"/>
          </a:p>
        </p:txBody>
      </p:sp>
      <p:sp>
        <p:nvSpPr>
          <p:cNvPr id="3" name="Text 1"/>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rial" pitchFamily="34" charset="0"/>
                <a:ea typeface="Arial" pitchFamily="34" charset="-122"/>
                <a:cs typeface="Arial" pitchFamily="34" charset="-120"/>
              </a:rPr>
              <a:t>7</a:t>
            </a:r>
            <a:endParaRPr lang="en-US" sz="1000" dirty="0"/>
          </a:p>
        </p:txBody>
      </p:sp>
      <p:sp>
        <p:nvSpPr>
          <p:cNvPr id="4" name="Text 2"/>
          <p:cNvSpPr/>
          <p:nvPr/>
        </p:nvSpPr>
        <p:spPr>
          <a:xfrm>
            <a:off x="457200" y="685800"/>
            <a:ext cx="9144000" cy="274320"/>
          </a:xfrm>
          <a:prstGeom prst="rect">
            <a:avLst/>
          </a:prstGeom>
          <a:noFill/>
          <a:ln/>
        </p:spPr>
        <p:txBody>
          <a:bodyPr wrap="square" lIns="0" tIns="0" rIns="0" bIns="0" rtlCol="0" anchor="ctr"/>
          <a:lstStyle/>
          <a:p>
            <a:pPr marL="0" indent="0">
              <a:buNone/>
            </a:pPr>
            <a:r>
              <a:rPr lang="en-US" sz="1200" b="1" kern="0" spc="200" dirty="0">
                <a:solidFill>
                  <a:srgbClr val="3B82F6"/>
                </a:solidFill>
                <a:latin typeface="Arial" pitchFamily="34" charset="0"/>
                <a:ea typeface="Arial" pitchFamily="34" charset="-122"/>
                <a:cs typeface="Arial" pitchFamily="34" charset="-120"/>
              </a:rPr>
              <a:t>05 · RECORRIDO DEL USUARIO</a:t>
            </a:r>
            <a:endParaRPr lang="en-US" sz="1200" dirty="0"/>
          </a:p>
        </p:txBody>
      </p:sp>
      <p:sp>
        <p:nvSpPr>
          <p:cNvPr id="5" name="Text 3"/>
          <p:cNvSpPr/>
          <p:nvPr/>
        </p:nvSpPr>
        <p:spPr>
          <a:xfrm>
            <a:off x="457200" y="941832"/>
            <a:ext cx="10515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Asistente de recomendación con IA</a:t>
            </a:r>
            <a:endParaRPr lang="en-US" sz="2800" dirty="0"/>
          </a:p>
        </p:txBody>
      </p:sp>
      <p:sp>
        <p:nvSpPr>
          <p:cNvPr id="6" name="Shape 4"/>
          <p:cNvSpPr/>
          <p:nvPr/>
        </p:nvSpPr>
        <p:spPr>
          <a:xfrm>
            <a:off x="1438017" y="1426464"/>
            <a:ext cx="9315661" cy="4087368"/>
          </a:xfrm>
          <a:prstGeom prst="roundRect">
            <a:avLst>
              <a:gd name="adj" fmla="val 1342"/>
            </a:avLst>
          </a:prstGeom>
          <a:solidFill>
            <a:srgbClr val="000000"/>
          </a:solidFill>
          <a:ln w="12700">
            <a:solidFill>
              <a:srgbClr val="2A2A3A"/>
            </a:solidFill>
            <a:prstDash val="solid"/>
          </a:ln>
          <a:effectLst>
            <a:outerShdw blurRad="127000" dist="38100" dir="5400000" algn="bl" rotWithShape="0">
              <a:srgbClr val="000000">
                <a:alpha val="35000"/>
              </a:srgbClr>
            </a:outerShdw>
          </a:effectLst>
        </p:spPr>
        <p:txBody>
          <a:bodyPr/>
          <a:lstStyle/>
          <a:p>
            <a:endParaRPr lang="en-US"/>
          </a:p>
        </p:txBody>
      </p:sp>
      <p:pic>
        <p:nvPicPr>
          <p:cNvPr id="7" name="Image 0" descr="/home/claude/imgs/shot5_asistente.png"/>
          <p:cNvPicPr>
            <a:picLocks noChangeAspect="1"/>
          </p:cNvPicPr>
          <p:nvPr/>
        </p:nvPicPr>
        <p:blipFill>
          <a:blip r:embed="rId3"/>
          <a:stretch>
            <a:fillRect/>
          </a:stretch>
        </p:blipFill>
        <p:spPr>
          <a:xfrm>
            <a:off x="1492881" y="1481328"/>
            <a:ext cx="9205933" cy="3977640"/>
          </a:xfrm>
          <a:prstGeom prst="rect">
            <a:avLst/>
          </a:prstGeom>
        </p:spPr>
      </p:pic>
      <p:sp>
        <p:nvSpPr>
          <p:cNvPr id="8" name="Shape 5"/>
          <p:cNvSpPr/>
          <p:nvPr/>
        </p:nvSpPr>
        <p:spPr>
          <a:xfrm>
            <a:off x="4668928" y="2475738"/>
            <a:ext cx="3774432" cy="2784348"/>
          </a:xfrm>
          <a:prstGeom prst="roundRect">
            <a:avLst>
              <a:gd name="adj" fmla="val 1970"/>
            </a:avLst>
          </a:prstGeom>
          <a:ln w="28575">
            <a:solidFill>
              <a:srgbClr val="3B82F6"/>
            </a:solidFill>
            <a:prstDash val="solid"/>
          </a:ln>
        </p:spPr>
        <p:txBody>
          <a:bodyPr/>
          <a:lstStyle/>
          <a:p>
            <a:endParaRPr lang="en-US"/>
          </a:p>
        </p:txBody>
      </p:sp>
      <p:sp>
        <p:nvSpPr>
          <p:cNvPr id="9" name="Shape 6"/>
          <p:cNvSpPr/>
          <p:nvPr/>
        </p:nvSpPr>
        <p:spPr>
          <a:xfrm>
            <a:off x="4522624" y="2329434"/>
            <a:ext cx="292608" cy="292608"/>
          </a:xfrm>
          <a:prstGeom prst="ellipse">
            <a:avLst/>
          </a:prstGeom>
          <a:solidFill>
            <a:srgbClr val="3B82F6"/>
          </a:solidFill>
          <a:ln w="19050">
            <a:solidFill>
              <a:srgbClr val="0A0A12"/>
            </a:solidFill>
            <a:prstDash val="solid"/>
          </a:ln>
          <a:effectLst>
            <a:outerShdw blurRad="127000" dist="38100" dir="5400000" algn="bl" rotWithShape="0">
              <a:srgbClr val="000000">
                <a:alpha val="35000"/>
              </a:srgbClr>
            </a:outerShdw>
          </a:effectLst>
        </p:spPr>
        <p:txBody>
          <a:bodyPr/>
          <a:lstStyle/>
          <a:p>
            <a:endParaRPr lang="en-US"/>
          </a:p>
        </p:txBody>
      </p:sp>
      <p:sp>
        <p:nvSpPr>
          <p:cNvPr id="10" name="Text 7"/>
          <p:cNvSpPr/>
          <p:nvPr/>
        </p:nvSpPr>
        <p:spPr>
          <a:xfrm>
            <a:off x="4522624" y="2329434"/>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Shape 8"/>
          <p:cNvSpPr/>
          <p:nvPr/>
        </p:nvSpPr>
        <p:spPr>
          <a:xfrm>
            <a:off x="4760987" y="4802657"/>
            <a:ext cx="1933246" cy="397764"/>
          </a:xfrm>
          <a:prstGeom prst="roundRect">
            <a:avLst>
              <a:gd name="adj" fmla="val 13793"/>
            </a:avLst>
          </a:prstGeom>
          <a:ln w="28575">
            <a:solidFill>
              <a:srgbClr val="E63946"/>
            </a:solidFill>
            <a:prstDash val="solid"/>
          </a:ln>
        </p:spPr>
        <p:txBody>
          <a:bodyPr/>
          <a:lstStyle/>
          <a:p>
            <a:endParaRPr lang="en-US"/>
          </a:p>
        </p:txBody>
      </p:sp>
      <p:sp>
        <p:nvSpPr>
          <p:cNvPr id="12" name="Shape 9"/>
          <p:cNvSpPr/>
          <p:nvPr/>
        </p:nvSpPr>
        <p:spPr>
          <a:xfrm>
            <a:off x="4614683" y="4656353"/>
            <a:ext cx="292608" cy="292608"/>
          </a:xfrm>
          <a:prstGeom prst="ellipse">
            <a:avLst/>
          </a:prstGeom>
          <a:solidFill>
            <a:srgbClr val="E63946"/>
          </a:solidFill>
          <a:ln w="19050">
            <a:solidFill>
              <a:srgbClr val="0A0A12"/>
            </a:solidFill>
            <a:prstDash val="solid"/>
          </a:ln>
          <a:effectLst>
            <a:outerShdw blurRad="127000" dist="38100" dir="5400000" algn="bl" rotWithShape="0">
              <a:srgbClr val="000000">
                <a:alpha val="35000"/>
              </a:srgbClr>
            </a:outerShdw>
          </a:effectLst>
        </p:spPr>
        <p:txBody>
          <a:bodyPr/>
          <a:lstStyle/>
          <a:p>
            <a:endParaRPr lang="en-US"/>
          </a:p>
        </p:txBody>
      </p:sp>
      <p:sp>
        <p:nvSpPr>
          <p:cNvPr id="13" name="Text 10"/>
          <p:cNvSpPr/>
          <p:nvPr/>
        </p:nvSpPr>
        <p:spPr>
          <a:xfrm>
            <a:off x="4614683" y="4656353"/>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Shape 11"/>
          <p:cNvSpPr/>
          <p:nvPr/>
        </p:nvSpPr>
        <p:spPr>
          <a:xfrm>
            <a:off x="548640" y="5678424"/>
            <a:ext cx="237744" cy="237744"/>
          </a:xfrm>
          <a:prstGeom prst="ellipse">
            <a:avLst/>
          </a:prstGeom>
          <a:solidFill>
            <a:srgbClr val="3B82F6"/>
          </a:solidFill>
          <a:ln/>
        </p:spPr>
        <p:txBody>
          <a:bodyPr/>
          <a:lstStyle/>
          <a:p>
            <a:endParaRPr lang="en-US"/>
          </a:p>
        </p:txBody>
      </p:sp>
      <p:sp>
        <p:nvSpPr>
          <p:cNvPr id="15" name="Text 12"/>
          <p:cNvSpPr/>
          <p:nvPr/>
        </p:nvSpPr>
        <p:spPr>
          <a:xfrm>
            <a:off x="548640" y="5678424"/>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6" name="Text 13"/>
          <p:cNvSpPr/>
          <p:nvPr/>
        </p:nvSpPr>
        <p:spPr>
          <a:xfrm>
            <a:off x="859536" y="5623560"/>
            <a:ext cx="4892040" cy="329184"/>
          </a:xfrm>
          <a:prstGeom prst="rect">
            <a:avLst/>
          </a:prstGeom>
          <a:noFill/>
          <a:ln/>
        </p:spPr>
        <p:txBody>
          <a:bodyPr wrap="square" lIns="0" tIns="0" rIns="0" bIns="0" rtlCol="0" anchor="ctr"/>
          <a:lstStyle/>
          <a:p>
            <a:pPr marL="0" indent="0">
              <a:buNone/>
            </a:pPr>
            <a:r>
              <a:rPr lang="en-US" sz="1250" dirty="0">
                <a:solidFill>
                  <a:srgbClr val="D1D5DB"/>
                </a:solidFill>
                <a:latin typeface="Arial" pitchFamily="34" charset="0"/>
                <a:ea typeface="Arial" pitchFamily="34" charset="-122"/>
                <a:cs typeface="Arial" pitchFamily="34" charset="-120"/>
              </a:rPr>
              <a:t>Chat 'StreamAI Assistant' · workflow n8n + GPT-4o</a:t>
            </a:r>
            <a:endParaRPr lang="en-US" sz="1250" dirty="0"/>
          </a:p>
        </p:txBody>
      </p:sp>
      <p:sp>
        <p:nvSpPr>
          <p:cNvPr id="17" name="Shape 14"/>
          <p:cNvSpPr/>
          <p:nvPr/>
        </p:nvSpPr>
        <p:spPr>
          <a:xfrm>
            <a:off x="6071616" y="5678424"/>
            <a:ext cx="237744" cy="237744"/>
          </a:xfrm>
          <a:prstGeom prst="ellipse">
            <a:avLst/>
          </a:prstGeom>
          <a:solidFill>
            <a:srgbClr val="E63946"/>
          </a:solidFill>
          <a:ln/>
        </p:spPr>
        <p:txBody>
          <a:bodyPr/>
          <a:lstStyle/>
          <a:p>
            <a:endParaRPr lang="en-US"/>
          </a:p>
        </p:txBody>
      </p:sp>
      <p:sp>
        <p:nvSpPr>
          <p:cNvPr id="18" name="Text 15"/>
          <p:cNvSpPr/>
          <p:nvPr/>
        </p:nvSpPr>
        <p:spPr>
          <a:xfrm>
            <a:off x="6071616" y="5678424"/>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9" name="Text 16"/>
          <p:cNvSpPr/>
          <p:nvPr/>
        </p:nvSpPr>
        <p:spPr>
          <a:xfrm>
            <a:off x="6382512" y="5623560"/>
            <a:ext cx="4892040" cy="329184"/>
          </a:xfrm>
          <a:prstGeom prst="rect">
            <a:avLst/>
          </a:prstGeom>
          <a:noFill/>
          <a:ln/>
        </p:spPr>
        <p:txBody>
          <a:bodyPr wrap="square" lIns="0" tIns="0" rIns="0" bIns="0" rtlCol="0" anchor="ctr"/>
          <a:lstStyle/>
          <a:p>
            <a:pPr marL="0" indent="0">
              <a:buNone/>
            </a:pPr>
            <a:r>
              <a:rPr lang="en-US" sz="1250" dirty="0">
                <a:solidFill>
                  <a:srgbClr val="D1D5DB"/>
                </a:solidFill>
                <a:latin typeface="Arial" pitchFamily="34" charset="0"/>
                <a:ea typeface="Arial" pitchFamily="34" charset="-122"/>
                <a:cs typeface="Arial" pitchFamily="34" charset="-120"/>
              </a:rPr>
              <a:t>Chips rápidos por género para simplificar la consulta</a:t>
            </a:r>
            <a:endParaRPr lang="en-US" sz="1250" dirty="0"/>
          </a:p>
        </p:txBody>
      </p:sp>
      <p:sp>
        <p:nvSpPr>
          <p:cNvPr id="20" name="Text 17"/>
          <p:cNvSpPr/>
          <p:nvPr/>
        </p:nvSpPr>
        <p:spPr>
          <a:xfrm>
            <a:off x="548640" y="6044184"/>
            <a:ext cx="11064240" cy="457200"/>
          </a:xfrm>
          <a:prstGeom prst="rect">
            <a:avLst/>
          </a:prstGeom>
          <a:noFill/>
          <a:ln/>
        </p:spPr>
        <p:txBody>
          <a:bodyPr wrap="square" lIns="0" tIns="0" rIns="0" bIns="0" rtlCol="0" anchor="ctr"/>
          <a:lstStyle/>
          <a:p>
            <a:pPr marL="0" indent="0">
              <a:buNone/>
            </a:pPr>
            <a:r>
              <a:rPr lang="en-US" sz="1250" dirty="0">
                <a:solidFill>
                  <a:srgbClr val="9CA3AF"/>
                </a:solidFill>
                <a:latin typeface="Arial" pitchFamily="34" charset="0"/>
                <a:ea typeface="Arial" pitchFamily="34" charset="-122"/>
                <a:cs typeface="Arial" pitchFamily="34" charset="-120"/>
              </a:rPr>
              <a:t>Con IA generativa: el frontend dispara un webhook de n8n que arma el prompt y consulta a OpenAI (GPT-4o).</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12"/>
        </a:solidFill>
        <a:effectLst/>
      </p:bgPr>
    </p:bg>
    <p:spTree>
      <p:nvGrpSpPr>
        <p:cNvPr id="1" name=""/>
        <p:cNvGrpSpPr/>
        <p:nvPr/>
      </p:nvGrpSpPr>
      <p:grpSpPr>
        <a:xfrm>
          <a:off x="0" y="0"/>
          <a:ext cx="0" cy="0"/>
          <a:chOff x="0" y="0"/>
          <a:chExt cx="0" cy="0"/>
        </a:xfrm>
      </p:grpSpPr>
      <p:sp>
        <p:nvSpPr>
          <p:cNvPr id="2" name="Text 0"/>
          <p:cNvSpPr/>
          <p:nvPr/>
        </p:nvSpPr>
        <p:spPr>
          <a:xfrm>
            <a:off x="457200" y="256032"/>
            <a:ext cx="2743200" cy="36576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STREAM</a:t>
            </a:r>
            <a:r>
              <a:rPr lang="en-US" sz="1400" b="1" kern="0" spc="100" dirty="0">
                <a:solidFill>
                  <a:srgbClr val="E63946"/>
                </a:solidFill>
                <a:latin typeface="Arial" pitchFamily="34" charset="0"/>
                <a:ea typeface="Arial" pitchFamily="34" charset="-122"/>
                <a:cs typeface="Arial" pitchFamily="34" charset="-120"/>
              </a:rPr>
              <a:t>AI</a:t>
            </a:r>
            <a:endParaRPr lang="en-US" sz="1400" dirty="0"/>
          </a:p>
        </p:txBody>
      </p:sp>
      <p:sp>
        <p:nvSpPr>
          <p:cNvPr id="3" name="Text 1"/>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rial" pitchFamily="34" charset="0"/>
                <a:ea typeface="Arial" pitchFamily="34" charset="-122"/>
                <a:cs typeface="Arial" pitchFamily="34" charset="-120"/>
              </a:rPr>
              <a:t>8</a:t>
            </a:r>
            <a:endParaRPr lang="en-US" sz="1000" dirty="0"/>
          </a:p>
        </p:txBody>
      </p:sp>
      <p:sp>
        <p:nvSpPr>
          <p:cNvPr id="4" name="Text 2"/>
          <p:cNvSpPr/>
          <p:nvPr/>
        </p:nvSpPr>
        <p:spPr>
          <a:xfrm>
            <a:off x="457200" y="685800"/>
            <a:ext cx="9144000" cy="274320"/>
          </a:xfrm>
          <a:prstGeom prst="rect">
            <a:avLst/>
          </a:prstGeom>
          <a:noFill/>
          <a:ln/>
        </p:spPr>
        <p:txBody>
          <a:bodyPr wrap="square" lIns="0" tIns="0" rIns="0" bIns="0" rtlCol="0" anchor="ctr"/>
          <a:lstStyle/>
          <a:p>
            <a:pPr marL="0" indent="0">
              <a:buNone/>
            </a:pPr>
            <a:r>
              <a:rPr lang="en-US" sz="1200" b="1" kern="0" spc="200" dirty="0">
                <a:solidFill>
                  <a:srgbClr val="3B82F6"/>
                </a:solidFill>
                <a:latin typeface="Arial" pitchFamily="34" charset="0"/>
                <a:ea typeface="Arial" pitchFamily="34" charset="-122"/>
                <a:cs typeface="Arial" pitchFamily="34" charset="-120"/>
              </a:rPr>
              <a:t>06 · RECORRIDO DEL USUARIO</a:t>
            </a:r>
            <a:endParaRPr lang="en-US" sz="1200" dirty="0"/>
          </a:p>
        </p:txBody>
      </p:sp>
      <p:sp>
        <p:nvSpPr>
          <p:cNvPr id="5" name="Text 3"/>
          <p:cNvSpPr/>
          <p:nvPr/>
        </p:nvSpPr>
        <p:spPr>
          <a:xfrm>
            <a:off x="457200" y="941832"/>
            <a:ext cx="10515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Sorprendeme: descubrimiento al azar</a:t>
            </a:r>
            <a:endParaRPr lang="en-US" sz="2800" dirty="0"/>
          </a:p>
        </p:txBody>
      </p:sp>
      <p:sp>
        <p:nvSpPr>
          <p:cNvPr id="6" name="Shape 4"/>
          <p:cNvSpPr/>
          <p:nvPr/>
        </p:nvSpPr>
        <p:spPr>
          <a:xfrm>
            <a:off x="1349285" y="1426464"/>
            <a:ext cx="9493125" cy="4087368"/>
          </a:xfrm>
          <a:prstGeom prst="roundRect">
            <a:avLst>
              <a:gd name="adj" fmla="val 1342"/>
            </a:avLst>
          </a:prstGeom>
          <a:solidFill>
            <a:srgbClr val="000000"/>
          </a:solidFill>
          <a:ln w="12700">
            <a:solidFill>
              <a:srgbClr val="2A2A3A"/>
            </a:solidFill>
            <a:prstDash val="solid"/>
          </a:ln>
          <a:effectLst>
            <a:outerShdw blurRad="127000" dist="38100" dir="5400000" algn="bl" rotWithShape="0">
              <a:srgbClr val="000000">
                <a:alpha val="35000"/>
              </a:srgbClr>
            </a:outerShdw>
          </a:effectLst>
        </p:spPr>
        <p:txBody>
          <a:bodyPr/>
          <a:lstStyle/>
          <a:p>
            <a:endParaRPr lang="en-US"/>
          </a:p>
        </p:txBody>
      </p:sp>
      <p:pic>
        <p:nvPicPr>
          <p:cNvPr id="7" name="Image 0" descr="/home/claude/imgs/shot6_sorprendeme.png"/>
          <p:cNvPicPr>
            <a:picLocks noChangeAspect="1"/>
          </p:cNvPicPr>
          <p:nvPr/>
        </p:nvPicPr>
        <p:blipFill>
          <a:blip r:embed="rId3"/>
          <a:stretch>
            <a:fillRect/>
          </a:stretch>
        </p:blipFill>
        <p:spPr>
          <a:xfrm>
            <a:off x="1404149" y="1481328"/>
            <a:ext cx="9383397" cy="3977640"/>
          </a:xfrm>
          <a:prstGeom prst="rect">
            <a:avLst/>
          </a:prstGeom>
        </p:spPr>
      </p:pic>
      <p:sp>
        <p:nvSpPr>
          <p:cNvPr id="8" name="Shape 5"/>
          <p:cNvSpPr/>
          <p:nvPr/>
        </p:nvSpPr>
        <p:spPr>
          <a:xfrm>
            <a:off x="4641421" y="2097862"/>
            <a:ext cx="3847193" cy="2466137"/>
          </a:xfrm>
          <a:prstGeom prst="roundRect">
            <a:avLst>
              <a:gd name="adj" fmla="val 2225"/>
            </a:avLst>
          </a:prstGeom>
          <a:ln w="28575">
            <a:solidFill>
              <a:srgbClr val="3B82F6"/>
            </a:solidFill>
            <a:prstDash val="solid"/>
          </a:ln>
        </p:spPr>
        <p:txBody>
          <a:bodyPr/>
          <a:lstStyle/>
          <a:p>
            <a:endParaRPr lang="en-US"/>
          </a:p>
        </p:txBody>
      </p:sp>
      <p:sp>
        <p:nvSpPr>
          <p:cNvPr id="9" name="Shape 6"/>
          <p:cNvSpPr/>
          <p:nvPr/>
        </p:nvSpPr>
        <p:spPr>
          <a:xfrm>
            <a:off x="4495117" y="1951558"/>
            <a:ext cx="292608" cy="292608"/>
          </a:xfrm>
          <a:prstGeom prst="ellipse">
            <a:avLst/>
          </a:prstGeom>
          <a:solidFill>
            <a:srgbClr val="3B82F6"/>
          </a:solidFill>
          <a:ln w="19050">
            <a:solidFill>
              <a:srgbClr val="0A0A12"/>
            </a:solidFill>
            <a:prstDash val="solid"/>
          </a:ln>
          <a:effectLst>
            <a:outerShdw blurRad="127000" dist="38100" dir="5400000" algn="bl" rotWithShape="0">
              <a:srgbClr val="000000">
                <a:alpha val="35000"/>
              </a:srgbClr>
            </a:outerShdw>
          </a:effectLst>
        </p:spPr>
        <p:txBody>
          <a:bodyPr/>
          <a:lstStyle/>
          <a:p>
            <a:endParaRPr lang="en-US"/>
          </a:p>
        </p:txBody>
      </p:sp>
      <p:sp>
        <p:nvSpPr>
          <p:cNvPr id="10" name="Text 7"/>
          <p:cNvSpPr/>
          <p:nvPr/>
        </p:nvSpPr>
        <p:spPr>
          <a:xfrm>
            <a:off x="4495117" y="1951558"/>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Shape 8"/>
          <p:cNvSpPr/>
          <p:nvPr/>
        </p:nvSpPr>
        <p:spPr>
          <a:xfrm>
            <a:off x="5532844" y="4742993"/>
            <a:ext cx="1172925" cy="457429"/>
          </a:xfrm>
          <a:prstGeom prst="roundRect">
            <a:avLst>
              <a:gd name="adj" fmla="val 11994"/>
            </a:avLst>
          </a:prstGeom>
          <a:ln w="28575">
            <a:solidFill>
              <a:srgbClr val="E63946"/>
            </a:solidFill>
            <a:prstDash val="solid"/>
          </a:ln>
        </p:spPr>
        <p:txBody>
          <a:bodyPr/>
          <a:lstStyle/>
          <a:p>
            <a:endParaRPr lang="en-US"/>
          </a:p>
        </p:txBody>
      </p:sp>
      <p:sp>
        <p:nvSpPr>
          <p:cNvPr id="12" name="Shape 9"/>
          <p:cNvSpPr/>
          <p:nvPr/>
        </p:nvSpPr>
        <p:spPr>
          <a:xfrm>
            <a:off x="5386540" y="4596689"/>
            <a:ext cx="292608" cy="292608"/>
          </a:xfrm>
          <a:prstGeom prst="ellipse">
            <a:avLst/>
          </a:prstGeom>
          <a:solidFill>
            <a:srgbClr val="E63946"/>
          </a:solidFill>
          <a:ln w="19050">
            <a:solidFill>
              <a:srgbClr val="0A0A12"/>
            </a:solidFill>
            <a:prstDash val="solid"/>
          </a:ln>
          <a:effectLst>
            <a:outerShdw blurRad="127000" dist="38100" dir="5400000" algn="bl" rotWithShape="0">
              <a:srgbClr val="000000">
                <a:alpha val="35000"/>
              </a:srgbClr>
            </a:outerShdw>
          </a:effectLst>
        </p:spPr>
        <p:txBody>
          <a:bodyPr/>
          <a:lstStyle/>
          <a:p>
            <a:endParaRPr lang="en-US"/>
          </a:p>
        </p:txBody>
      </p:sp>
      <p:sp>
        <p:nvSpPr>
          <p:cNvPr id="13" name="Text 10"/>
          <p:cNvSpPr/>
          <p:nvPr/>
        </p:nvSpPr>
        <p:spPr>
          <a:xfrm>
            <a:off x="5386540" y="4596689"/>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Shape 11"/>
          <p:cNvSpPr/>
          <p:nvPr/>
        </p:nvSpPr>
        <p:spPr>
          <a:xfrm>
            <a:off x="548640" y="5678424"/>
            <a:ext cx="237744" cy="237744"/>
          </a:xfrm>
          <a:prstGeom prst="ellipse">
            <a:avLst/>
          </a:prstGeom>
          <a:solidFill>
            <a:srgbClr val="3B82F6"/>
          </a:solidFill>
          <a:ln/>
        </p:spPr>
        <p:txBody>
          <a:bodyPr/>
          <a:lstStyle/>
          <a:p>
            <a:endParaRPr lang="en-US"/>
          </a:p>
        </p:txBody>
      </p:sp>
      <p:sp>
        <p:nvSpPr>
          <p:cNvPr id="15" name="Text 12"/>
          <p:cNvSpPr/>
          <p:nvPr/>
        </p:nvSpPr>
        <p:spPr>
          <a:xfrm>
            <a:off x="548640" y="5678424"/>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6" name="Text 13"/>
          <p:cNvSpPr/>
          <p:nvPr/>
        </p:nvSpPr>
        <p:spPr>
          <a:xfrm>
            <a:off x="859536" y="5623560"/>
            <a:ext cx="4892040" cy="329184"/>
          </a:xfrm>
          <a:prstGeom prst="rect">
            <a:avLst/>
          </a:prstGeom>
          <a:noFill/>
          <a:ln/>
        </p:spPr>
        <p:txBody>
          <a:bodyPr wrap="square" lIns="0" tIns="0" rIns="0" bIns="0" rtlCol="0" anchor="ctr"/>
          <a:lstStyle/>
          <a:p>
            <a:pPr marL="0" indent="0">
              <a:buNone/>
            </a:pPr>
            <a:r>
              <a:rPr lang="en-US" sz="1250" dirty="0">
                <a:solidFill>
                  <a:srgbClr val="D1D5DB"/>
                </a:solidFill>
                <a:latin typeface="Arial" pitchFamily="34" charset="0"/>
                <a:ea typeface="Arial" pitchFamily="34" charset="-122"/>
                <a:cs typeface="Arial" pitchFamily="34" charset="-120"/>
              </a:rPr>
              <a:t>Explica el flujo: género al azar → n8n → OpenAI</a:t>
            </a:r>
            <a:endParaRPr lang="en-US" sz="1250" dirty="0"/>
          </a:p>
        </p:txBody>
      </p:sp>
      <p:sp>
        <p:nvSpPr>
          <p:cNvPr id="17" name="Shape 14"/>
          <p:cNvSpPr/>
          <p:nvPr/>
        </p:nvSpPr>
        <p:spPr>
          <a:xfrm>
            <a:off x="6071616" y="5678424"/>
            <a:ext cx="237744" cy="237744"/>
          </a:xfrm>
          <a:prstGeom prst="ellipse">
            <a:avLst/>
          </a:prstGeom>
          <a:solidFill>
            <a:srgbClr val="E63946"/>
          </a:solidFill>
          <a:ln/>
        </p:spPr>
        <p:txBody>
          <a:bodyPr/>
          <a:lstStyle/>
          <a:p>
            <a:endParaRPr lang="en-US"/>
          </a:p>
        </p:txBody>
      </p:sp>
      <p:sp>
        <p:nvSpPr>
          <p:cNvPr id="18" name="Text 15"/>
          <p:cNvSpPr/>
          <p:nvPr/>
        </p:nvSpPr>
        <p:spPr>
          <a:xfrm>
            <a:off x="6071616" y="5678424"/>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9" name="Text 16"/>
          <p:cNvSpPr/>
          <p:nvPr/>
        </p:nvSpPr>
        <p:spPr>
          <a:xfrm>
            <a:off x="6382512" y="5623560"/>
            <a:ext cx="4892040" cy="329184"/>
          </a:xfrm>
          <a:prstGeom prst="rect">
            <a:avLst/>
          </a:prstGeom>
          <a:noFill/>
          <a:ln/>
        </p:spPr>
        <p:txBody>
          <a:bodyPr wrap="square" lIns="0" tIns="0" rIns="0" bIns="0" rtlCol="0" anchor="ctr"/>
          <a:lstStyle/>
          <a:p>
            <a:pPr marL="0" indent="0">
              <a:buNone/>
            </a:pPr>
            <a:r>
              <a:rPr lang="en-US" sz="1250" dirty="0">
                <a:solidFill>
                  <a:srgbClr val="D1D5DB"/>
                </a:solidFill>
                <a:latin typeface="Arial" pitchFamily="34" charset="0"/>
                <a:ea typeface="Arial" pitchFamily="34" charset="-122"/>
                <a:cs typeface="Arial" pitchFamily="34" charset="-120"/>
              </a:rPr>
              <a:t>Un clic dispara el webhook y genera el top 5</a:t>
            </a:r>
            <a:endParaRPr lang="en-US" sz="1250" dirty="0"/>
          </a:p>
        </p:txBody>
      </p:sp>
      <p:sp>
        <p:nvSpPr>
          <p:cNvPr id="20" name="Text 17"/>
          <p:cNvSpPr/>
          <p:nvPr/>
        </p:nvSpPr>
        <p:spPr>
          <a:xfrm>
            <a:off x="548640" y="6044184"/>
            <a:ext cx="11064240" cy="457200"/>
          </a:xfrm>
          <a:prstGeom prst="rect">
            <a:avLst/>
          </a:prstGeom>
          <a:noFill/>
          <a:ln/>
        </p:spPr>
        <p:txBody>
          <a:bodyPr wrap="square" lIns="0" tIns="0" rIns="0" bIns="0" rtlCol="0" anchor="ctr"/>
          <a:lstStyle/>
          <a:p>
            <a:pPr marL="0" indent="0">
              <a:buNone/>
            </a:pPr>
            <a:r>
              <a:rPr lang="en-US" sz="1250" dirty="0">
                <a:solidFill>
                  <a:srgbClr val="9CA3AF"/>
                </a:solidFill>
                <a:latin typeface="Arial" pitchFamily="34" charset="0"/>
                <a:ea typeface="Arial" pitchFamily="34" charset="-122"/>
                <a:cs typeface="Arial" pitchFamily="34" charset="-120"/>
              </a:rPr>
              <a:t>Misma arquitectura que el asistente, pero sin input del usuario: la aleatoriedad reemplaza al prompt manual.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12"/>
        </a:solidFill>
        <a:effectLst/>
      </p:bgPr>
    </p:bg>
    <p:spTree>
      <p:nvGrpSpPr>
        <p:cNvPr id="1" name=""/>
        <p:cNvGrpSpPr/>
        <p:nvPr/>
      </p:nvGrpSpPr>
      <p:grpSpPr>
        <a:xfrm>
          <a:off x="0" y="0"/>
          <a:ext cx="0" cy="0"/>
          <a:chOff x="0" y="0"/>
          <a:chExt cx="0" cy="0"/>
        </a:xfrm>
      </p:grpSpPr>
      <p:sp>
        <p:nvSpPr>
          <p:cNvPr id="2" name="Text 0"/>
          <p:cNvSpPr/>
          <p:nvPr/>
        </p:nvSpPr>
        <p:spPr>
          <a:xfrm>
            <a:off x="457200" y="256032"/>
            <a:ext cx="2743200" cy="36576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STREAM</a:t>
            </a:r>
            <a:r>
              <a:rPr lang="en-US" sz="1400" b="1" kern="0" spc="100" dirty="0">
                <a:solidFill>
                  <a:srgbClr val="E63946"/>
                </a:solidFill>
                <a:latin typeface="Arial" pitchFamily="34" charset="0"/>
                <a:ea typeface="Arial" pitchFamily="34" charset="-122"/>
                <a:cs typeface="Arial" pitchFamily="34" charset="-120"/>
              </a:rPr>
              <a:t>AI</a:t>
            </a:r>
            <a:endParaRPr lang="en-US" sz="1400" dirty="0"/>
          </a:p>
        </p:txBody>
      </p:sp>
      <p:sp>
        <p:nvSpPr>
          <p:cNvPr id="3" name="Text 1"/>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rial" pitchFamily="34" charset="0"/>
                <a:ea typeface="Arial" pitchFamily="34" charset="-122"/>
                <a:cs typeface="Arial" pitchFamily="34" charset="-120"/>
              </a:rPr>
              <a:t>9</a:t>
            </a:r>
            <a:endParaRPr lang="en-US" sz="1000" dirty="0"/>
          </a:p>
        </p:txBody>
      </p:sp>
      <p:sp>
        <p:nvSpPr>
          <p:cNvPr id="4" name="Text 2"/>
          <p:cNvSpPr/>
          <p:nvPr/>
        </p:nvSpPr>
        <p:spPr>
          <a:xfrm>
            <a:off x="457200" y="685800"/>
            <a:ext cx="9144000" cy="274320"/>
          </a:xfrm>
          <a:prstGeom prst="rect">
            <a:avLst/>
          </a:prstGeom>
          <a:noFill/>
          <a:ln/>
        </p:spPr>
        <p:txBody>
          <a:bodyPr wrap="square" lIns="0" tIns="0" rIns="0" bIns="0" rtlCol="0" anchor="ctr"/>
          <a:lstStyle/>
          <a:p>
            <a:pPr marL="0" indent="0">
              <a:buNone/>
            </a:pPr>
            <a:r>
              <a:rPr lang="en-US" sz="1200" b="1" kern="0" spc="200" dirty="0">
                <a:solidFill>
                  <a:srgbClr val="3B82F6"/>
                </a:solidFill>
                <a:latin typeface="Arial" pitchFamily="34" charset="0"/>
                <a:ea typeface="Arial" pitchFamily="34" charset="-122"/>
                <a:cs typeface="Arial" pitchFamily="34" charset="-120"/>
              </a:rPr>
              <a:t>07 · RECORRIDO DEL USUARIO</a:t>
            </a:r>
            <a:endParaRPr lang="en-US" sz="1200" dirty="0"/>
          </a:p>
        </p:txBody>
      </p:sp>
      <p:sp>
        <p:nvSpPr>
          <p:cNvPr id="5" name="Text 3"/>
          <p:cNvSpPr/>
          <p:nvPr/>
        </p:nvSpPr>
        <p:spPr>
          <a:xfrm>
            <a:off x="457200" y="941832"/>
            <a:ext cx="10515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Comparador de plataformas</a:t>
            </a:r>
            <a:endParaRPr lang="en-US" sz="2800" dirty="0"/>
          </a:p>
        </p:txBody>
      </p:sp>
      <p:sp>
        <p:nvSpPr>
          <p:cNvPr id="6" name="Shape 4"/>
          <p:cNvSpPr/>
          <p:nvPr/>
        </p:nvSpPr>
        <p:spPr>
          <a:xfrm>
            <a:off x="1048535" y="1426464"/>
            <a:ext cx="10094624" cy="4087368"/>
          </a:xfrm>
          <a:prstGeom prst="roundRect">
            <a:avLst>
              <a:gd name="adj" fmla="val 1342"/>
            </a:avLst>
          </a:prstGeom>
          <a:solidFill>
            <a:srgbClr val="000000"/>
          </a:solidFill>
          <a:ln w="12700">
            <a:solidFill>
              <a:srgbClr val="2A2A3A"/>
            </a:solidFill>
            <a:prstDash val="solid"/>
          </a:ln>
          <a:effectLst>
            <a:outerShdw blurRad="127000" dist="38100" dir="5400000" algn="bl" rotWithShape="0">
              <a:srgbClr val="000000">
                <a:alpha val="35000"/>
              </a:srgbClr>
            </a:outerShdw>
          </a:effectLst>
        </p:spPr>
        <p:txBody>
          <a:bodyPr/>
          <a:lstStyle/>
          <a:p>
            <a:endParaRPr lang="en-US"/>
          </a:p>
        </p:txBody>
      </p:sp>
      <p:pic>
        <p:nvPicPr>
          <p:cNvPr id="7" name="Image 0" descr="/home/claude/imgs/shot7_comparador.png"/>
          <p:cNvPicPr>
            <a:picLocks noChangeAspect="1"/>
          </p:cNvPicPr>
          <p:nvPr/>
        </p:nvPicPr>
        <p:blipFill>
          <a:blip r:embed="rId3"/>
          <a:stretch>
            <a:fillRect/>
          </a:stretch>
        </p:blipFill>
        <p:spPr>
          <a:xfrm>
            <a:off x="1103399" y="1481328"/>
            <a:ext cx="9984896" cy="3977640"/>
          </a:xfrm>
          <a:prstGeom prst="rect">
            <a:avLst/>
          </a:prstGeom>
        </p:spPr>
      </p:pic>
      <p:sp>
        <p:nvSpPr>
          <p:cNvPr id="8" name="Shape 5"/>
          <p:cNvSpPr/>
          <p:nvPr/>
        </p:nvSpPr>
        <p:spPr>
          <a:xfrm>
            <a:off x="4448340" y="2575179"/>
            <a:ext cx="3295016" cy="815416"/>
          </a:xfrm>
          <a:prstGeom prst="roundRect">
            <a:avLst>
              <a:gd name="adj" fmla="val 6728"/>
            </a:avLst>
          </a:prstGeom>
          <a:ln w="28575">
            <a:solidFill>
              <a:srgbClr val="8B5CF6"/>
            </a:solidFill>
            <a:prstDash val="solid"/>
          </a:ln>
        </p:spPr>
        <p:txBody>
          <a:bodyPr/>
          <a:lstStyle/>
          <a:p>
            <a:endParaRPr lang="en-US"/>
          </a:p>
        </p:txBody>
      </p:sp>
      <p:sp>
        <p:nvSpPr>
          <p:cNvPr id="9" name="Shape 6"/>
          <p:cNvSpPr/>
          <p:nvPr/>
        </p:nvSpPr>
        <p:spPr>
          <a:xfrm>
            <a:off x="4302036" y="2428875"/>
            <a:ext cx="292608" cy="292608"/>
          </a:xfrm>
          <a:prstGeom prst="ellipse">
            <a:avLst/>
          </a:prstGeom>
          <a:solidFill>
            <a:srgbClr val="8B5CF6"/>
          </a:solidFill>
          <a:ln w="19050">
            <a:solidFill>
              <a:srgbClr val="0A0A12"/>
            </a:solidFill>
            <a:prstDash val="solid"/>
          </a:ln>
          <a:effectLst>
            <a:outerShdw blurRad="127000" dist="38100" dir="5400000" algn="bl" rotWithShape="0">
              <a:srgbClr val="000000">
                <a:alpha val="35000"/>
              </a:srgbClr>
            </a:outerShdw>
          </a:effectLst>
        </p:spPr>
        <p:txBody>
          <a:bodyPr/>
          <a:lstStyle/>
          <a:p>
            <a:endParaRPr lang="en-US"/>
          </a:p>
        </p:txBody>
      </p:sp>
      <p:sp>
        <p:nvSpPr>
          <p:cNvPr id="10" name="Text 7"/>
          <p:cNvSpPr/>
          <p:nvPr/>
        </p:nvSpPr>
        <p:spPr>
          <a:xfrm>
            <a:off x="4302036" y="2428875"/>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Shape 8"/>
          <p:cNvSpPr/>
          <p:nvPr/>
        </p:nvSpPr>
        <p:spPr>
          <a:xfrm>
            <a:off x="4448340" y="3470148"/>
            <a:ext cx="3295016" cy="1412062"/>
          </a:xfrm>
          <a:prstGeom prst="roundRect">
            <a:avLst>
              <a:gd name="adj" fmla="val 3885"/>
            </a:avLst>
          </a:prstGeom>
          <a:ln w="28575">
            <a:solidFill>
              <a:srgbClr val="3B82F6"/>
            </a:solidFill>
            <a:prstDash val="solid"/>
          </a:ln>
        </p:spPr>
        <p:txBody>
          <a:bodyPr/>
          <a:lstStyle/>
          <a:p>
            <a:endParaRPr lang="en-US"/>
          </a:p>
        </p:txBody>
      </p:sp>
      <p:sp>
        <p:nvSpPr>
          <p:cNvPr id="12" name="Shape 9"/>
          <p:cNvSpPr/>
          <p:nvPr/>
        </p:nvSpPr>
        <p:spPr>
          <a:xfrm>
            <a:off x="4302036" y="3323844"/>
            <a:ext cx="292608" cy="292608"/>
          </a:xfrm>
          <a:prstGeom prst="ellipse">
            <a:avLst/>
          </a:prstGeom>
          <a:solidFill>
            <a:srgbClr val="3B82F6"/>
          </a:solidFill>
          <a:ln w="19050">
            <a:solidFill>
              <a:srgbClr val="0A0A12"/>
            </a:solidFill>
            <a:prstDash val="solid"/>
          </a:ln>
          <a:effectLst>
            <a:outerShdw blurRad="127000" dist="38100" dir="5400000" algn="bl" rotWithShape="0">
              <a:srgbClr val="000000">
                <a:alpha val="35000"/>
              </a:srgbClr>
            </a:outerShdw>
          </a:effectLst>
        </p:spPr>
        <p:txBody>
          <a:bodyPr/>
          <a:lstStyle/>
          <a:p>
            <a:endParaRPr lang="en-US"/>
          </a:p>
        </p:txBody>
      </p:sp>
      <p:sp>
        <p:nvSpPr>
          <p:cNvPr id="13" name="Text 10"/>
          <p:cNvSpPr/>
          <p:nvPr/>
        </p:nvSpPr>
        <p:spPr>
          <a:xfrm>
            <a:off x="4302036" y="3323844"/>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Shape 11"/>
          <p:cNvSpPr/>
          <p:nvPr/>
        </p:nvSpPr>
        <p:spPr>
          <a:xfrm>
            <a:off x="4448340" y="4961763"/>
            <a:ext cx="3295016" cy="437540"/>
          </a:xfrm>
          <a:prstGeom prst="roundRect">
            <a:avLst>
              <a:gd name="adj" fmla="val 12539"/>
            </a:avLst>
          </a:prstGeom>
          <a:ln w="28575">
            <a:solidFill>
              <a:srgbClr val="E63946"/>
            </a:solidFill>
            <a:prstDash val="solid"/>
          </a:ln>
        </p:spPr>
        <p:txBody>
          <a:bodyPr/>
          <a:lstStyle/>
          <a:p>
            <a:endParaRPr lang="en-US"/>
          </a:p>
        </p:txBody>
      </p:sp>
      <p:sp>
        <p:nvSpPr>
          <p:cNvPr id="15" name="Shape 12"/>
          <p:cNvSpPr/>
          <p:nvPr/>
        </p:nvSpPr>
        <p:spPr>
          <a:xfrm>
            <a:off x="4302036" y="4815459"/>
            <a:ext cx="292608" cy="292608"/>
          </a:xfrm>
          <a:prstGeom prst="ellipse">
            <a:avLst/>
          </a:prstGeom>
          <a:solidFill>
            <a:srgbClr val="E63946"/>
          </a:solidFill>
          <a:ln w="19050">
            <a:solidFill>
              <a:srgbClr val="0A0A12"/>
            </a:solidFill>
            <a:prstDash val="solid"/>
          </a:ln>
          <a:effectLst>
            <a:outerShdw blurRad="127000" dist="38100" dir="5400000" algn="bl" rotWithShape="0">
              <a:srgbClr val="000000">
                <a:alpha val="35000"/>
              </a:srgbClr>
            </a:outerShdw>
          </a:effectLst>
        </p:spPr>
        <p:txBody>
          <a:bodyPr/>
          <a:lstStyle/>
          <a:p>
            <a:endParaRPr lang="en-US"/>
          </a:p>
        </p:txBody>
      </p:sp>
      <p:sp>
        <p:nvSpPr>
          <p:cNvPr id="16" name="Text 13"/>
          <p:cNvSpPr/>
          <p:nvPr/>
        </p:nvSpPr>
        <p:spPr>
          <a:xfrm>
            <a:off x="4302036" y="4815459"/>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Shape 14"/>
          <p:cNvSpPr/>
          <p:nvPr/>
        </p:nvSpPr>
        <p:spPr>
          <a:xfrm>
            <a:off x="548640" y="5678424"/>
            <a:ext cx="237744" cy="237744"/>
          </a:xfrm>
          <a:prstGeom prst="ellipse">
            <a:avLst/>
          </a:prstGeom>
          <a:solidFill>
            <a:srgbClr val="8B5CF6"/>
          </a:solidFill>
          <a:ln/>
        </p:spPr>
        <p:txBody>
          <a:bodyPr/>
          <a:lstStyle/>
          <a:p>
            <a:endParaRPr lang="en-US"/>
          </a:p>
        </p:txBody>
      </p:sp>
      <p:sp>
        <p:nvSpPr>
          <p:cNvPr id="18" name="Text 15"/>
          <p:cNvSpPr/>
          <p:nvPr/>
        </p:nvSpPr>
        <p:spPr>
          <a:xfrm>
            <a:off x="548640" y="5678424"/>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9" name="Text 16"/>
          <p:cNvSpPr/>
          <p:nvPr/>
        </p:nvSpPr>
        <p:spPr>
          <a:xfrm>
            <a:off x="859536" y="5623560"/>
            <a:ext cx="4892040" cy="329184"/>
          </a:xfrm>
          <a:prstGeom prst="rect">
            <a:avLst/>
          </a:prstGeom>
          <a:noFill/>
          <a:ln/>
        </p:spPr>
        <p:txBody>
          <a:bodyPr wrap="square" lIns="0" tIns="0" rIns="0" bIns="0" rtlCol="0" anchor="ctr"/>
          <a:lstStyle/>
          <a:p>
            <a:pPr marL="0" indent="0">
              <a:buNone/>
            </a:pPr>
            <a:r>
              <a:rPr lang="en-US" sz="1250" dirty="0">
                <a:solidFill>
                  <a:srgbClr val="D1D5DB"/>
                </a:solidFill>
                <a:latin typeface="Arial" pitchFamily="34" charset="0"/>
                <a:ea typeface="Arial" pitchFamily="34" charset="-122"/>
                <a:cs typeface="Arial" pitchFamily="34" charset="-120"/>
              </a:rPr>
              <a:t>Elegí dos plataformas a comparar</a:t>
            </a:r>
            <a:endParaRPr lang="en-US" sz="1250" dirty="0"/>
          </a:p>
        </p:txBody>
      </p:sp>
      <p:sp>
        <p:nvSpPr>
          <p:cNvPr id="20" name="Shape 17"/>
          <p:cNvSpPr/>
          <p:nvPr/>
        </p:nvSpPr>
        <p:spPr>
          <a:xfrm>
            <a:off x="6071616" y="5678424"/>
            <a:ext cx="237744" cy="237744"/>
          </a:xfrm>
          <a:prstGeom prst="ellipse">
            <a:avLst/>
          </a:prstGeom>
          <a:solidFill>
            <a:srgbClr val="3B82F6"/>
          </a:solidFill>
          <a:ln/>
        </p:spPr>
        <p:txBody>
          <a:bodyPr/>
          <a:lstStyle/>
          <a:p>
            <a:endParaRPr lang="en-US"/>
          </a:p>
        </p:txBody>
      </p:sp>
      <p:sp>
        <p:nvSpPr>
          <p:cNvPr id="21" name="Text 18"/>
          <p:cNvSpPr/>
          <p:nvPr/>
        </p:nvSpPr>
        <p:spPr>
          <a:xfrm>
            <a:off x="6071616" y="5678424"/>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2" name="Text 19"/>
          <p:cNvSpPr/>
          <p:nvPr/>
        </p:nvSpPr>
        <p:spPr>
          <a:xfrm>
            <a:off x="6382512" y="5623560"/>
            <a:ext cx="4892040" cy="329184"/>
          </a:xfrm>
          <a:prstGeom prst="rect">
            <a:avLst/>
          </a:prstGeom>
          <a:noFill/>
          <a:ln/>
        </p:spPr>
        <p:txBody>
          <a:bodyPr wrap="square" lIns="0" tIns="0" rIns="0" bIns="0" rtlCol="0" anchor="ctr"/>
          <a:lstStyle/>
          <a:p>
            <a:pPr marL="0" indent="0">
              <a:buNone/>
            </a:pPr>
            <a:r>
              <a:rPr lang="en-US" sz="1250" dirty="0">
                <a:solidFill>
                  <a:srgbClr val="D1D5DB"/>
                </a:solidFill>
                <a:latin typeface="Arial" pitchFamily="34" charset="0"/>
                <a:ea typeface="Arial" pitchFamily="34" charset="-122"/>
                <a:cs typeface="Arial" pitchFamily="34" charset="-120"/>
              </a:rPr>
              <a:t>Métricas reales calculadas sobre el dataset</a:t>
            </a:r>
            <a:endParaRPr lang="en-US" sz="1250" dirty="0"/>
          </a:p>
        </p:txBody>
      </p:sp>
      <p:sp>
        <p:nvSpPr>
          <p:cNvPr id="23" name="Shape 20"/>
          <p:cNvSpPr/>
          <p:nvPr/>
        </p:nvSpPr>
        <p:spPr>
          <a:xfrm>
            <a:off x="2962656" y="6022467"/>
            <a:ext cx="237744" cy="237744"/>
          </a:xfrm>
          <a:prstGeom prst="ellipse">
            <a:avLst/>
          </a:prstGeom>
          <a:solidFill>
            <a:srgbClr val="E63946"/>
          </a:solidFill>
          <a:ln/>
        </p:spPr>
        <p:txBody>
          <a:bodyPr/>
          <a:lstStyle/>
          <a:p>
            <a:endParaRPr lang="en-US"/>
          </a:p>
        </p:txBody>
      </p:sp>
      <p:sp>
        <p:nvSpPr>
          <p:cNvPr id="24" name="Text 21"/>
          <p:cNvSpPr/>
          <p:nvPr/>
        </p:nvSpPr>
        <p:spPr>
          <a:xfrm>
            <a:off x="2962656" y="6022467"/>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5" name="Text 22"/>
          <p:cNvSpPr/>
          <p:nvPr/>
        </p:nvSpPr>
        <p:spPr>
          <a:xfrm>
            <a:off x="3305556" y="5948743"/>
            <a:ext cx="4892040" cy="329184"/>
          </a:xfrm>
          <a:prstGeom prst="rect">
            <a:avLst/>
          </a:prstGeom>
          <a:noFill/>
          <a:ln/>
        </p:spPr>
        <p:txBody>
          <a:bodyPr wrap="square" lIns="0" tIns="0" rIns="0" bIns="0" rtlCol="0" anchor="ctr"/>
          <a:lstStyle/>
          <a:p>
            <a:pPr marL="0" indent="0">
              <a:buNone/>
            </a:pPr>
            <a:r>
              <a:rPr lang="en-US" sz="1250" dirty="0">
                <a:solidFill>
                  <a:srgbClr val="D1D5DB"/>
                </a:solidFill>
                <a:latin typeface="Arial" pitchFamily="34" charset="0"/>
                <a:ea typeface="Arial" pitchFamily="34" charset="-122"/>
                <a:cs typeface="Arial" pitchFamily="34" charset="-120"/>
              </a:rPr>
              <a:t>'Comparar con IA' redacta el análisis en texto</a:t>
            </a:r>
            <a:endParaRPr lang="en-US" sz="1250" dirty="0"/>
          </a:p>
        </p:txBody>
      </p:sp>
      <p:sp>
        <p:nvSpPr>
          <p:cNvPr id="26" name="Text 23"/>
          <p:cNvSpPr/>
          <p:nvPr/>
        </p:nvSpPr>
        <p:spPr>
          <a:xfrm>
            <a:off x="508792" y="6223635"/>
            <a:ext cx="11064240" cy="457200"/>
          </a:xfrm>
          <a:prstGeom prst="rect">
            <a:avLst/>
          </a:prstGeom>
          <a:noFill/>
          <a:ln/>
        </p:spPr>
        <p:txBody>
          <a:bodyPr wrap="square" lIns="0" tIns="0" rIns="0" bIns="0" rtlCol="0" anchor="ctr"/>
          <a:lstStyle/>
          <a:p>
            <a:pPr marL="0" indent="0">
              <a:buNone/>
            </a:pPr>
            <a:r>
              <a:rPr lang="en-US" sz="1250" dirty="0">
                <a:solidFill>
                  <a:srgbClr val="9CA3AF"/>
                </a:solidFill>
                <a:latin typeface="Arial" pitchFamily="34" charset="0"/>
                <a:ea typeface="Arial" pitchFamily="34" charset="-122"/>
                <a:cs typeface="Arial" pitchFamily="34" charset="-120"/>
              </a:rPr>
              <a:t>Dos pasos separados: primero cálculo determinístico sobre datos, después un segundo workflow de n8n + OpenAI redacta la conclusión.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12"/>
        </a:solidFill>
        <a:effectLst/>
      </p:bgPr>
    </p:bg>
    <p:spTree>
      <p:nvGrpSpPr>
        <p:cNvPr id="1" name=""/>
        <p:cNvGrpSpPr/>
        <p:nvPr/>
      </p:nvGrpSpPr>
      <p:grpSpPr>
        <a:xfrm>
          <a:off x="0" y="0"/>
          <a:ext cx="0" cy="0"/>
          <a:chOff x="0" y="0"/>
          <a:chExt cx="0" cy="0"/>
        </a:xfrm>
      </p:grpSpPr>
      <p:sp>
        <p:nvSpPr>
          <p:cNvPr id="2" name="Text 0"/>
          <p:cNvSpPr/>
          <p:nvPr/>
        </p:nvSpPr>
        <p:spPr>
          <a:xfrm>
            <a:off x="457200" y="256032"/>
            <a:ext cx="2743200" cy="36576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STREAM</a:t>
            </a:r>
            <a:r>
              <a:rPr lang="en-US" sz="1400" b="1" kern="0" spc="100" dirty="0">
                <a:solidFill>
                  <a:srgbClr val="E63946"/>
                </a:solidFill>
                <a:latin typeface="Arial" pitchFamily="34" charset="0"/>
                <a:ea typeface="Arial" pitchFamily="34" charset="-122"/>
                <a:cs typeface="Arial" pitchFamily="34" charset="-120"/>
              </a:rPr>
              <a:t>AI</a:t>
            </a:r>
            <a:endParaRPr lang="en-US" sz="1400" dirty="0"/>
          </a:p>
        </p:txBody>
      </p:sp>
      <p:sp>
        <p:nvSpPr>
          <p:cNvPr id="3" name="Text 1"/>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Arial" pitchFamily="34" charset="0"/>
                <a:ea typeface="Arial" pitchFamily="34" charset="-122"/>
                <a:cs typeface="Arial" pitchFamily="34" charset="-120"/>
              </a:rPr>
              <a:t>10</a:t>
            </a:r>
            <a:endParaRPr lang="en-US" sz="1000" dirty="0"/>
          </a:p>
        </p:txBody>
      </p:sp>
      <p:sp>
        <p:nvSpPr>
          <p:cNvPr id="4" name="Text 2"/>
          <p:cNvSpPr/>
          <p:nvPr/>
        </p:nvSpPr>
        <p:spPr>
          <a:xfrm>
            <a:off x="457200" y="685800"/>
            <a:ext cx="9144000" cy="274320"/>
          </a:xfrm>
          <a:prstGeom prst="rect">
            <a:avLst/>
          </a:prstGeom>
          <a:noFill/>
          <a:ln/>
        </p:spPr>
        <p:txBody>
          <a:bodyPr wrap="square" lIns="0" tIns="0" rIns="0" bIns="0" rtlCol="0" anchor="ctr"/>
          <a:lstStyle/>
          <a:p>
            <a:pPr marL="0" indent="0">
              <a:buNone/>
            </a:pPr>
            <a:r>
              <a:rPr lang="en-US" sz="1200" b="1" kern="0" spc="200" dirty="0">
                <a:solidFill>
                  <a:srgbClr val="8B5CF6"/>
                </a:solidFill>
                <a:latin typeface="Arial" pitchFamily="34" charset="0"/>
                <a:ea typeface="Arial" pitchFamily="34" charset="-122"/>
                <a:cs typeface="Arial" pitchFamily="34" charset="-120"/>
              </a:rPr>
              <a:t>DETRÁS DE ESCENA</a:t>
            </a:r>
            <a:endParaRPr lang="en-US" sz="1200" dirty="0"/>
          </a:p>
        </p:txBody>
      </p:sp>
      <p:sp>
        <p:nvSpPr>
          <p:cNvPr id="5" name="Text 3"/>
          <p:cNvSpPr/>
          <p:nvPr/>
        </p:nvSpPr>
        <p:spPr>
          <a:xfrm>
            <a:off x="457200" y="941832"/>
            <a:ext cx="1051560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Cómo se conecta todo</a:t>
            </a:r>
            <a:endParaRPr lang="en-US" sz="2800" dirty="0"/>
          </a:p>
        </p:txBody>
      </p:sp>
      <p:sp>
        <p:nvSpPr>
          <p:cNvPr id="6" name="Shape 4"/>
          <p:cNvSpPr/>
          <p:nvPr/>
        </p:nvSpPr>
        <p:spPr>
          <a:xfrm>
            <a:off x="548640" y="1783080"/>
            <a:ext cx="2574036" cy="3246120"/>
          </a:xfrm>
          <a:prstGeom prst="roundRect">
            <a:avLst>
              <a:gd name="adj" fmla="val 3197"/>
            </a:avLst>
          </a:prstGeom>
          <a:solidFill>
            <a:srgbClr val="15151F"/>
          </a:solidFill>
          <a:ln/>
          <a:effectLst>
            <a:outerShdw blurRad="127000" dist="38100" dir="5400000" algn="bl" rotWithShape="0">
              <a:srgbClr val="000000">
                <a:alpha val="35000"/>
              </a:srgbClr>
            </a:outerShdw>
          </a:effectLst>
        </p:spPr>
        <p:txBody>
          <a:bodyPr/>
          <a:lstStyle/>
          <a:p>
            <a:endParaRPr lang="en-US"/>
          </a:p>
        </p:txBody>
      </p:sp>
      <p:sp>
        <p:nvSpPr>
          <p:cNvPr id="7" name="Shape 5"/>
          <p:cNvSpPr/>
          <p:nvPr/>
        </p:nvSpPr>
        <p:spPr>
          <a:xfrm>
            <a:off x="777240" y="2011680"/>
            <a:ext cx="146304" cy="146304"/>
          </a:xfrm>
          <a:prstGeom prst="ellipse">
            <a:avLst/>
          </a:prstGeom>
          <a:solidFill>
            <a:srgbClr val="E63946"/>
          </a:solidFill>
          <a:ln/>
        </p:spPr>
        <p:txBody>
          <a:bodyPr/>
          <a:lstStyle/>
          <a:p>
            <a:endParaRPr lang="en-US"/>
          </a:p>
        </p:txBody>
      </p:sp>
      <p:sp>
        <p:nvSpPr>
          <p:cNvPr id="8" name="Text 6"/>
          <p:cNvSpPr/>
          <p:nvPr/>
        </p:nvSpPr>
        <p:spPr>
          <a:xfrm>
            <a:off x="1005840" y="1938528"/>
            <a:ext cx="1933956" cy="3200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Frontend</a:t>
            </a:r>
            <a:endParaRPr lang="en-US" sz="1500" dirty="0"/>
          </a:p>
        </p:txBody>
      </p:sp>
      <p:sp>
        <p:nvSpPr>
          <p:cNvPr id="9" name="Text 7"/>
          <p:cNvSpPr/>
          <p:nvPr/>
        </p:nvSpPr>
        <p:spPr>
          <a:xfrm>
            <a:off x="777240" y="2423160"/>
            <a:ext cx="2116836" cy="24231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D1D5DB"/>
                </a:solidFill>
                <a:latin typeface="Arial" pitchFamily="34" charset="0"/>
                <a:ea typeface="Arial" pitchFamily="34" charset="-122"/>
                <a:cs typeface="Arial" pitchFamily="34" charset="-120"/>
              </a:rPr>
              <a:t>Landing, dashboard, filtros y tarjetas</a:t>
            </a:r>
            <a:endParaRPr lang="en-US" sz="1150" dirty="0"/>
          </a:p>
          <a:p>
            <a:pPr marL="342900" indent="-342900">
              <a:spcAft>
                <a:spcPts val="800"/>
              </a:spcAft>
              <a:buSzPct val="100000"/>
              <a:buChar char="•"/>
            </a:pPr>
            <a:r>
              <a:rPr lang="en-US" sz="1150" dirty="0">
                <a:solidFill>
                  <a:srgbClr val="D1D5DB"/>
                </a:solidFill>
                <a:latin typeface="Arial" pitchFamily="34" charset="0"/>
                <a:ea typeface="Arial" pitchFamily="34" charset="-122"/>
                <a:cs typeface="Arial" pitchFamily="34" charset="-120"/>
              </a:rPr>
              <a:t>Consume el dataset y dispara los webhooks</a:t>
            </a:r>
            <a:endParaRPr lang="en-US" sz="1150" dirty="0"/>
          </a:p>
          <a:p>
            <a:pPr marL="342900" indent="-342900">
              <a:spcAft>
                <a:spcPts val="800"/>
              </a:spcAft>
              <a:buSzPct val="100000"/>
              <a:buChar char="•"/>
            </a:pPr>
            <a:r>
              <a:rPr lang="en-US" sz="1150" dirty="0">
                <a:solidFill>
                  <a:srgbClr val="D1D5DB"/>
                </a:solidFill>
                <a:latin typeface="Arial" pitchFamily="34" charset="0"/>
                <a:ea typeface="Arial" pitchFamily="34" charset="-122"/>
                <a:cs typeface="Arial" pitchFamily="34" charset="-120"/>
              </a:rPr>
              <a:t>Sin lógica de IA embebida</a:t>
            </a:r>
            <a:endParaRPr lang="en-US" sz="1150" dirty="0"/>
          </a:p>
        </p:txBody>
      </p:sp>
      <p:sp>
        <p:nvSpPr>
          <p:cNvPr id="10" name="Shape 8"/>
          <p:cNvSpPr/>
          <p:nvPr/>
        </p:nvSpPr>
        <p:spPr>
          <a:xfrm>
            <a:off x="3378708" y="1783080"/>
            <a:ext cx="2574036" cy="3246120"/>
          </a:xfrm>
          <a:prstGeom prst="roundRect">
            <a:avLst>
              <a:gd name="adj" fmla="val 3197"/>
            </a:avLst>
          </a:prstGeom>
          <a:solidFill>
            <a:srgbClr val="15151F"/>
          </a:solidFill>
          <a:ln/>
          <a:effectLst>
            <a:outerShdw blurRad="127000" dist="38100" dir="5400000" algn="bl" rotWithShape="0">
              <a:srgbClr val="000000">
                <a:alpha val="35000"/>
              </a:srgbClr>
            </a:outerShdw>
          </a:effectLst>
        </p:spPr>
        <p:txBody>
          <a:bodyPr/>
          <a:lstStyle/>
          <a:p>
            <a:endParaRPr lang="en-US"/>
          </a:p>
        </p:txBody>
      </p:sp>
      <p:sp>
        <p:nvSpPr>
          <p:cNvPr id="11" name="Shape 9"/>
          <p:cNvSpPr/>
          <p:nvPr/>
        </p:nvSpPr>
        <p:spPr>
          <a:xfrm>
            <a:off x="3607308" y="2011680"/>
            <a:ext cx="146304" cy="146304"/>
          </a:xfrm>
          <a:prstGeom prst="ellipse">
            <a:avLst/>
          </a:prstGeom>
          <a:solidFill>
            <a:srgbClr val="8B5CF6"/>
          </a:solidFill>
          <a:ln/>
        </p:spPr>
        <p:txBody>
          <a:bodyPr/>
          <a:lstStyle/>
          <a:p>
            <a:endParaRPr lang="en-US"/>
          </a:p>
        </p:txBody>
      </p:sp>
      <p:sp>
        <p:nvSpPr>
          <p:cNvPr id="12" name="Text 10"/>
          <p:cNvSpPr/>
          <p:nvPr/>
        </p:nvSpPr>
        <p:spPr>
          <a:xfrm>
            <a:off x="3835908" y="1938528"/>
            <a:ext cx="1933956" cy="3200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Datos</a:t>
            </a:r>
            <a:endParaRPr lang="en-US" sz="1500" dirty="0"/>
          </a:p>
        </p:txBody>
      </p:sp>
      <p:sp>
        <p:nvSpPr>
          <p:cNvPr id="13" name="Text 11"/>
          <p:cNvSpPr/>
          <p:nvPr/>
        </p:nvSpPr>
        <p:spPr>
          <a:xfrm>
            <a:off x="3607308" y="2423160"/>
            <a:ext cx="2116836" cy="24231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D1D5DB"/>
                </a:solidFill>
                <a:latin typeface="Arial" pitchFamily="34" charset="0"/>
                <a:ea typeface="Arial" pitchFamily="34" charset="-122"/>
                <a:cs typeface="Arial" pitchFamily="34" charset="-120"/>
              </a:rPr>
              <a:t>800 títulos (muestra de 5.000)</a:t>
            </a:r>
            <a:endParaRPr lang="en-US" sz="1150" dirty="0"/>
          </a:p>
          <a:p>
            <a:pPr marL="342900" indent="-342900">
              <a:spcAft>
                <a:spcPts val="800"/>
              </a:spcAft>
              <a:buSzPct val="100000"/>
              <a:buChar char="•"/>
            </a:pPr>
            <a:r>
              <a:rPr lang="en-US" sz="1150" dirty="0">
                <a:solidFill>
                  <a:srgbClr val="D1D5DB"/>
                </a:solidFill>
                <a:latin typeface="Arial" pitchFamily="34" charset="0"/>
                <a:ea typeface="Arial" pitchFamily="34" charset="-122"/>
                <a:cs typeface="Arial" pitchFamily="34" charset="-120"/>
              </a:rPr>
              <a:t>Esquema tipo Kaggle, 5 plataformas</a:t>
            </a:r>
            <a:endParaRPr lang="en-US" sz="1150" dirty="0"/>
          </a:p>
          <a:p>
            <a:pPr marL="342900" indent="-342900">
              <a:spcAft>
                <a:spcPts val="800"/>
              </a:spcAft>
              <a:buSzPct val="100000"/>
              <a:buChar char="•"/>
            </a:pPr>
            <a:r>
              <a:rPr lang="en-US" sz="1150" dirty="0">
                <a:solidFill>
                  <a:srgbClr val="D1D5DB"/>
                </a:solidFill>
                <a:latin typeface="Arial" pitchFamily="34" charset="0"/>
                <a:ea typeface="Arial" pitchFamily="34" charset="-122"/>
                <a:cs typeface="Arial" pitchFamily="34" charset="-120"/>
              </a:rPr>
              <a:t>TF-IDF / embeddings para similitud</a:t>
            </a:r>
            <a:endParaRPr lang="en-US" sz="1150" dirty="0"/>
          </a:p>
        </p:txBody>
      </p:sp>
      <p:sp>
        <p:nvSpPr>
          <p:cNvPr id="14" name="Shape 12"/>
          <p:cNvSpPr/>
          <p:nvPr/>
        </p:nvSpPr>
        <p:spPr>
          <a:xfrm>
            <a:off x="6208776" y="1783080"/>
            <a:ext cx="2574036" cy="3246120"/>
          </a:xfrm>
          <a:prstGeom prst="roundRect">
            <a:avLst>
              <a:gd name="adj" fmla="val 3197"/>
            </a:avLst>
          </a:prstGeom>
          <a:solidFill>
            <a:srgbClr val="15151F"/>
          </a:solidFill>
          <a:ln/>
          <a:effectLst>
            <a:outerShdw blurRad="127000" dist="38100" dir="5400000" algn="bl" rotWithShape="0">
              <a:srgbClr val="000000">
                <a:alpha val="35000"/>
              </a:srgbClr>
            </a:outerShdw>
          </a:effectLst>
        </p:spPr>
        <p:txBody>
          <a:bodyPr/>
          <a:lstStyle/>
          <a:p>
            <a:endParaRPr lang="en-US"/>
          </a:p>
        </p:txBody>
      </p:sp>
      <p:sp>
        <p:nvSpPr>
          <p:cNvPr id="15" name="Shape 13"/>
          <p:cNvSpPr/>
          <p:nvPr/>
        </p:nvSpPr>
        <p:spPr>
          <a:xfrm>
            <a:off x="6437376" y="2011680"/>
            <a:ext cx="146304" cy="146304"/>
          </a:xfrm>
          <a:prstGeom prst="ellipse">
            <a:avLst/>
          </a:prstGeom>
          <a:solidFill>
            <a:srgbClr val="3B82F6"/>
          </a:solidFill>
          <a:ln/>
        </p:spPr>
        <p:txBody>
          <a:bodyPr/>
          <a:lstStyle/>
          <a:p>
            <a:endParaRPr lang="en-US"/>
          </a:p>
        </p:txBody>
      </p:sp>
      <p:sp>
        <p:nvSpPr>
          <p:cNvPr id="16" name="Text 14"/>
          <p:cNvSpPr/>
          <p:nvPr/>
        </p:nvSpPr>
        <p:spPr>
          <a:xfrm>
            <a:off x="6665976" y="1938528"/>
            <a:ext cx="1933956" cy="3200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n8n</a:t>
            </a:r>
            <a:endParaRPr lang="en-US" sz="1500" dirty="0"/>
          </a:p>
        </p:txBody>
      </p:sp>
      <p:sp>
        <p:nvSpPr>
          <p:cNvPr id="17" name="Text 15"/>
          <p:cNvSpPr/>
          <p:nvPr/>
        </p:nvSpPr>
        <p:spPr>
          <a:xfrm>
            <a:off x="6437376" y="2423160"/>
            <a:ext cx="2116836" cy="24231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D1D5DB"/>
                </a:solidFill>
                <a:latin typeface="Arial" pitchFamily="34" charset="0"/>
                <a:ea typeface="Arial" pitchFamily="34" charset="-122"/>
                <a:cs typeface="Arial" pitchFamily="34" charset="-120"/>
              </a:rPr>
              <a:t>Orquesta cada automatización</a:t>
            </a:r>
            <a:endParaRPr lang="en-US" sz="1150" dirty="0"/>
          </a:p>
          <a:p>
            <a:pPr marL="342900" indent="-342900">
              <a:spcAft>
                <a:spcPts val="800"/>
              </a:spcAft>
              <a:buSzPct val="100000"/>
              <a:buChar char="•"/>
            </a:pPr>
            <a:r>
              <a:rPr lang="en-US" sz="1150" dirty="0">
                <a:solidFill>
                  <a:srgbClr val="D1D5DB"/>
                </a:solidFill>
                <a:latin typeface="Arial" pitchFamily="34" charset="0"/>
                <a:ea typeface="Arial" pitchFamily="34" charset="-122"/>
                <a:cs typeface="Arial" pitchFamily="34" charset="-120"/>
              </a:rPr>
              <a:t>Arma el prompt y las reglas de negocio</a:t>
            </a:r>
            <a:endParaRPr lang="en-US" sz="1150" dirty="0"/>
          </a:p>
          <a:p>
            <a:pPr marL="342900" indent="-342900">
              <a:spcAft>
                <a:spcPts val="800"/>
              </a:spcAft>
              <a:buSzPct val="100000"/>
              <a:buChar char="•"/>
            </a:pPr>
            <a:r>
              <a:rPr lang="en-US" sz="1150" dirty="0">
                <a:solidFill>
                  <a:srgbClr val="D1D5DB"/>
                </a:solidFill>
                <a:latin typeface="Arial" pitchFamily="34" charset="0"/>
                <a:ea typeface="Arial" pitchFamily="34" charset="-122"/>
                <a:cs typeface="Arial" pitchFamily="34" charset="-120"/>
              </a:rPr>
              <a:t>Un workflow por función (chat, sorpresa, comparar)</a:t>
            </a:r>
            <a:endParaRPr lang="en-US" sz="1150" dirty="0"/>
          </a:p>
        </p:txBody>
      </p:sp>
      <p:sp>
        <p:nvSpPr>
          <p:cNvPr id="18" name="Shape 16"/>
          <p:cNvSpPr/>
          <p:nvPr/>
        </p:nvSpPr>
        <p:spPr>
          <a:xfrm>
            <a:off x="9038844" y="1783080"/>
            <a:ext cx="2574036" cy="3246120"/>
          </a:xfrm>
          <a:prstGeom prst="roundRect">
            <a:avLst>
              <a:gd name="adj" fmla="val 3197"/>
            </a:avLst>
          </a:prstGeom>
          <a:solidFill>
            <a:srgbClr val="15151F"/>
          </a:solidFill>
          <a:ln/>
          <a:effectLst>
            <a:outerShdw blurRad="127000" dist="38100" dir="5400000" algn="bl" rotWithShape="0">
              <a:srgbClr val="000000">
                <a:alpha val="35000"/>
              </a:srgbClr>
            </a:outerShdw>
          </a:effectLst>
        </p:spPr>
        <p:txBody>
          <a:bodyPr/>
          <a:lstStyle/>
          <a:p>
            <a:endParaRPr lang="en-US"/>
          </a:p>
        </p:txBody>
      </p:sp>
      <p:sp>
        <p:nvSpPr>
          <p:cNvPr id="19" name="Shape 17"/>
          <p:cNvSpPr/>
          <p:nvPr/>
        </p:nvSpPr>
        <p:spPr>
          <a:xfrm>
            <a:off x="9267444" y="2011680"/>
            <a:ext cx="146304" cy="146304"/>
          </a:xfrm>
          <a:prstGeom prst="ellipse">
            <a:avLst/>
          </a:prstGeom>
          <a:solidFill>
            <a:srgbClr val="F59E0B"/>
          </a:solidFill>
          <a:ln/>
        </p:spPr>
        <p:txBody>
          <a:bodyPr/>
          <a:lstStyle/>
          <a:p>
            <a:endParaRPr lang="en-US"/>
          </a:p>
        </p:txBody>
      </p:sp>
      <p:sp>
        <p:nvSpPr>
          <p:cNvPr id="20" name="Text 18"/>
          <p:cNvSpPr/>
          <p:nvPr/>
        </p:nvSpPr>
        <p:spPr>
          <a:xfrm>
            <a:off x="9496044" y="1938528"/>
            <a:ext cx="1933956" cy="3200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OpenAI (GPT-4o)</a:t>
            </a:r>
            <a:endParaRPr lang="en-US" sz="1500" dirty="0"/>
          </a:p>
        </p:txBody>
      </p:sp>
      <p:sp>
        <p:nvSpPr>
          <p:cNvPr id="21" name="Text 19"/>
          <p:cNvSpPr/>
          <p:nvPr/>
        </p:nvSpPr>
        <p:spPr>
          <a:xfrm>
            <a:off x="9267444" y="2423160"/>
            <a:ext cx="2116836" cy="24231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D1D5DB"/>
                </a:solidFill>
                <a:latin typeface="Arial" pitchFamily="34" charset="0"/>
                <a:ea typeface="Arial" pitchFamily="34" charset="-122"/>
                <a:cs typeface="Arial" pitchFamily="34" charset="-120"/>
              </a:rPr>
              <a:t>Redacta recomendaciones y comparaciones</a:t>
            </a:r>
            <a:endParaRPr lang="en-US" sz="1150" dirty="0"/>
          </a:p>
          <a:p>
            <a:pPr marL="342900" indent="-342900">
              <a:spcAft>
                <a:spcPts val="800"/>
              </a:spcAft>
              <a:buSzPct val="100000"/>
              <a:buChar char="•"/>
            </a:pPr>
            <a:r>
              <a:rPr lang="en-US" sz="1150" dirty="0">
                <a:solidFill>
                  <a:srgbClr val="D1D5DB"/>
                </a:solidFill>
                <a:latin typeface="Arial" pitchFamily="34" charset="0"/>
                <a:ea typeface="Arial" pitchFamily="34" charset="-122"/>
                <a:cs typeface="Arial" pitchFamily="34" charset="-120"/>
              </a:rPr>
              <a:t>Nunca inventa métricas: interpreta datos reales</a:t>
            </a:r>
            <a:endParaRPr lang="en-US" sz="1150" dirty="0"/>
          </a:p>
          <a:p>
            <a:pPr marL="342900" indent="-342900">
              <a:spcAft>
                <a:spcPts val="800"/>
              </a:spcAft>
              <a:buSzPct val="100000"/>
              <a:buChar char="•"/>
            </a:pPr>
            <a:r>
              <a:rPr lang="en-US" sz="1150" dirty="0">
                <a:solidFill>
                  <a:srgbClr val="D1D5DB"/>
                </a:solidFill>
                <a:latin typeface="Arial" pitchFamily="34" charset="0"/>
                <a:ea typeface="Arial" pitchFamily="34" charset="-122"/>
                <a:cs typeface="Arial" pitchFamily="34" charset="-120"/>
              </a:rPr>
              <a:t>Responde en lenguaje natural al usuario</a:t>
            </a:r>
            <a:endParaRPr lang="en-US" sz="1150" dirty="0"/>
          </a:p>
        </p:txBody>
      </p:sp>
      <p:sp>
        <p:nvSpPr>
          <p:cNvPr id="22" name="Text 20"/>
          <p:cNvSpPr/>
          <p:nvPr/>
        </p:nvSpPr>
        <p:spPr>
          <a:xfrm>
            <a:off x="548640" y="5349240"/>
            <a:ext cx="11064240" cy="365760"/>
          </a:xfrm>
          <a:prstGeom prst="rect">
            <a:avLst/>
          </a:prstGeom>
          <a:noFill/>
          <a:ln/>
        </p:spPr>
        <p:txBody>
          <a:bodyPr wrap="square" lIns="0" tIns="0" rIns="0" bIns="0" rtlCol="0" anchor="ctr"/>
          <a:lstStyle/>
          <a:p>
            <a:pPr marL="0" indent="0" algn="ctr">
              <a:buNone/>
            </a:pPr>
            <a:r>
              <a:rPr lang="en-US" sz="1300" i="1" dirty="0">
                <a:solidFill>
                  <a:srgbClr val="9CA3AF"/>
                </a:solidFill>
                <a:latin typeface="Arial" pitchFamily="34" charset="0"/>
                <a:ea typeface="Arial" pitchFamily="34" charset="-122"/>
                <a:cs typeface="Arial" pitchFamily="34" charset="-120"/>
              </a:rPr>
              <a:t>Usuario  →  Frontend  →  Dataset (filtros / similitud)   ó   n8n → OpenAI (GPT-4o)  →  Respuesta al usuario</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12"/>
        </a:solidFill>
        <a:effectLst/>
      </p:bgPr>
    </p:bg>
    <p:spTree>
      <p:nvGrpSpPr>
        <p:cNvPr id="1" name=""/>
        <p:cNvGrpSpPr/>
        <p:nvPr/>
      </p:nvGrpSpPr>
      <p:grpSpPr>
        <a:xfrm>
          <a:off x="0" y="0"/>
          <a:ext cx="0" cy="0"/>
          <a:chOff x="0" y="0"/>
          <a:chExt cx="0" cy="0"/>
        </a:xfrm>
      </p:grpSpPr>
      <p:sp>
        <p:nvSpPr>
          <p:cNvPr id="2" name="Shape 0"/>
          <p:cNvSpPr/>
          <p:nvPr/>
        </p:nvSpPr>
        <p:spPr>
          <a:xfrm>
            <a:off x="7772400" y="-2743200"/>
            <a:ext cx="7315200" cy="7315200"/>
          </a:xfrm>
          <a:prstGeom prst="ellipse">
            <a:avLst/>
          </a:prstGeom>
          <a:solidFill>
            <a:srgbClr val="8B5CF6">
              <a:alpha val="11000"/>
            </a:srgbClr>
          </a:solidFill>
          <a:ln/>
        </p:spPr>
        <p:txBody>
          <a:bodyPr/>
          <a:lstStyle/>
          <a:p>
            <a:endParaRPr lang="en-US"/>
          </a:p>
        </p:txBody>
      </p:sp>
      <p:sp>
        <p:nvSpPr>
          <p:cNvPr id="3" name="Text 1"/>
          <p:cNvSpPr/>
          <p:nvPr/>
        </p:nvSpPr>
        <p:spPr>
          <a:xfrm>
            <a:off x="822960" y="2103120"/>
            <a:ext cx="7315200" cy="822960"/>
          </a:xfrm>
          <a:prstGeom prst="rect">
            <a:avLst/>
          </a:prstGeom>
          <a:noFill/>
          <a:ln/>
        </p:spPr>
        <p:txBody>
          <a:bodyPr wrap="square" lIns="0" tIns="0" rIns="0" bIns="0" rtlCol="0" anchor="ctr"/>
          <a:lstStyle/>
          <a:p>
            <a:pPr marL="0" indent="0">
              <a:buNone/>
            </a:pPr>
            <a:r>
              <a:rPr lang="en-US" sz="4000" b="1" kern="0" spc="100" dirty="0">
                <a:solidFill>
                  <a:srgbClr val="FFFFFF"/>
                </a:solidFill>
                <a:latin typeface="Arial" pitchFamily="34" charset="0"/>
                <a:ea typeface="Arial" pitchFamily="34" charset="-122"/>
                <a:cs typeface="Arial" pitchFamily="34" charset="-120"/>
              </a:rPr>
              <a:t>STREAM</a:t>
            </a:r>
            <a:r>
              <a:rPr lang="en-US" sz="4000" b="1" kern="0" spc="100" dirty="0">
                <a:solidFill>
                  <a:srgbClr val="E63946"/>
                </a:solidFill>
                <a:latin typeface="Arial" pitchFamily="34" charset="0"/>
                <a:ea typeface="Arial" pitchFamily="34" charset="-122"/>
                <a:cs typeface="Arial" pitchFamily="34" charset="-120"/>
              </a:rPr>
              <a:t>AI</a:t>
            </a:r>
            <a:endParaRPr lang="en-US" sz="4000" dirty="0"/>
          </a:p>
        </p:txBody>
      </p:sp>
      <p:sp>
        <p:nvSpPr>
          <p:cNvPr id="4" name="Text 2"/>
          <p:cNvSpPr/>
          <p:nvPr/>
        </p:nvSpPr>
        <p:spPr>
          <a:xfrm>
            <a:off x="868680" y="2971800"/>
            <a:ext cx="8229600" cy="548640"/>
          </a:xfrm>
          <a:prstGeom prst="rect">
            <a:avLst/>
          </a:prstGeom>
          <a:noFill/>
          <a:ln/>
        </p:spPr>
        <p:txBody>
          <a:bodyPr wrap="square" lIns="0" tIns="0" rIns="0" bIns="0" rtlCol="0" anchor="ctr"/>
          <a:lstStyle/>
          <a:p>
            <a:pPr marL="0" indent="0">
              <a:buNone/>
            </a:pPr>
            <a:r>
              <a:rPr lang="en-US" sz="2200" dirty="0">
                <a:solidFill>
                  <a:srgbClr val="C4B5FD"/>
                </a:solidFill>
                <a:latin typeface="Arial" pitchFamily="34" charset="0"/>
                <a:ea typeface="Arial" pitchFamily="34" charset="-122"/>
                <a:cs typeface="Arial" pitchFamily="34" charset="-120"/>
              </a:rPr>
              <a:t>Gracias </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94855010ABE444B88C344F1CB31E7A3" ma:contentTypeVersion="10" ma:contentTypeDescription="Create a new document." ma:contentTypeScope="" ma:versionID="a5bde8f52281cdd8e0eb0d27264936ca">
  <xsd:schema xmlns:xsd="http://www.w3.org/2001/XMLSchema" xmlns:xs="http://www.w3.org/2001/XMLSchema" xmlns:p="http://schemas.microsoft.com/office/2006/metadata/properties" xmlns:ns3="c82aedb3-4961-4f26-9e43-844fc8dd2b8a" targetNamespace="http://schemas.microsoft.com/office/2006/metadata/properties" ma:root="true" ma:fieldsID="921f75298322903522e47b798c2f278f" ns3:_="">
    <xsd:import namespace="c82aedb3-4961-4f26-9e43-844fc8dd2b8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2aedb3-4961-4f26-9e43-844fc8dd2b8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c82aedb3-4961-4f26-9e43-844fc8dd2b8a" xsi:nil="true"/>
  </documentManagement>
</p:properties>
</file>

<file path=customXml/itemProps1.xml><?xml version="1.0" encoding="utf-8"?>
<ds:datastoreItem xmlns:ds="http://schemas.openxmlformats.org/officeDocument/2006/customXml" ds:itemID="{E0BC353D-7ED7-4AF0-B4F1-DC5F3644725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2aedb3-4961-4f26-9e43-844fc8dd2b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A30C3E8-24FF-4891-B369-04D966B896D3}">
  <ds:schemaRefs>
    <ds:schemaRef ds:uri="http://schemas.microsoft.com/sharepoint/v3/contenttype/forms"/>
  </ds:schemaRefs>
</ds:datastoreItem>
</file>

<file path=customXml/itemProps3.xml><?xml version="1.0" encoding="utf-8"?>
<ds:datastoreItem xmlns:ds="http://schemas.openxmlformats.org/officeDocument/2006/customXml" ds:itemID="{C2049EEE-7FB2-4AC5-8979-C2C13F057D54}">
  <ds:schemaRefs>
    <ds:schemaRef ds:uri="http://purl.org/dc/elements/1.1/"/>
    <ds:schemaRef ds:uri="http://purl.org/dc/terms/"/>
    <ds:schemaRef ds:uri="http://www.w3.org/XML/1998/namespace"/>
    <ds:schemaRef ds:uri="c82aedb3-4961-4f26-9e43-844fc8dd2b8a"/>
    <ds:schemaRef ds:uri="http://schemas.microsoft.com/office/2006/documentManagement/types"/>
    <ds:schemaRef ds:uri="http://schemas.microsoft.com/office/infopath/2007/PartnerControls"/>
    <ds:schemaRef ds:uri="http://schemas.microsoft.com/office/2006/metadata/propertie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16</TotalTime>
  <Words>1549</Words>
  <Application>Microsoft Office PowerPoint</Application>
  <PresentationFormat>Panorámica</PresentationFormat>
  <Paragraphs>148</Paragraphs>
  <Slides>11</Slides>
  <Notes>11</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11</vt:i4>
      </vt:variant>
    </vt:vector>
  </HeadingPairs>
  <TitlesOfParts>
    <vt:vector size="13" baseType="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StreamAI - Defensa de proyecto</dc:title>
  <dc:subject>PptxGenJS Presentation</dc:subject>
  <dc:creator>StreamAI</dc:creator>
  <cp:lastModifiedBy>Alva, Rocio</cp:lastModifiedBy>
  <cp:revision>3</cp:revision>
  <dcterms:created xsi:type="dcterms:W3CDTF">2026-07-05T22:53:29Z</dcterms:created>
  <dcterms:modified xsi:type="dcterms:W3CDTF">2026-07-05T23:12:52Z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0x010100C94855010ABE444B88C344F1CB31E7A3</vt:lpwstr>
  </property>
</Properties>
</file>